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81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spPr>
            <a:solidFill>
              <a:srgbClr val="2563EB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827"/>
                    </a:solidFill>
                    <a:latin typeface="Courier New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· Simulation</c:v>
                </c:pt>
                <c:pt idx="1">
                  <c:v>B · Groq 70B</c:v>
                </c:pt>
                <c:pt idx="2">
                  <c:v>C · Gemini 2.0</c:v>
                </c:pt>
                <c:pt idx="3">
                  <c:v>D · Multi-LLM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60</c:v>
                </c:pt>
                <c:pt idx="2">
                  <c:v>50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F8-4606-96D7-8228A8CDC6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24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128016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2563EB">
              <a:alpha val="14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463040" y="393192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TECHNOLOGY &amp; CYBERSECURITY  ·  6B06302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66928" y="1078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 PROJECT  · 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554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66928" y="254203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ru-KZ" sz="2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</a:t>
            </a:r>
            <a:r>
              <a:rPr lang="ru-KZ" sz="21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ru-KZ" sz="2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KZ" sz="21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ru-KZ" sz="2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AI-Based Red </a:t>
            </a:r>
            <a:r>
              <a:rPr lang="ru-KZ" sz="21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Teaming</a:t>
            </a:r>
            <a:r>
              <a:rPr lang="ru-KZ" sz="2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Framework </a:t>
            </a:r>
            <a:r>
              <a:rPr lang="ru-KZ" sz="21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ru-KZ" sz="2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KZ" sz="21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  <a:r>
              <a:rPr lang="ru-KZ" sz="2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KZ" sz="21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LLMs</a:t>
            </a:r>
            <a:r>
              <a:rPr lang="ru-KZ" sz="2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Integrated </a:t>
            </a:r>
            <a:r>
              <a:rPr lang="ru-KZ" sz="21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ru-KZ" sz="2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Smart Home </a:t>
            </a:r>
            <a:r>
              <a:rPr lang="ru-KZ" sz="21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ru-KZ" sz="2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KZ" sz="21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ru-KZ" sz="2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Systems</a:t>
            </a:r>
            <a:endParaRPr lang="en-US" sz="21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6928" y="3794760"/>
            <a:ext cx="1993392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667827" y="390448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" y="43616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 agents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61488" y="3794760"/>
            <a:ext cx="1993392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 dirty="0"/>
          </a:p>
        </p:txBody>
      </p:sp>
      <p:sp>
        <p:nvSpPr>
          <p:cNvPr id="13" name="Text 11"/>
          <p:cNvSpPr/>
          <p:nvPr/>
        </p:nvSpPr>
        <p:spPr>
          <a:xfrm>
            <a:off x="2852928" y="3904488"/>
            <a:ext cx="554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ru-RU" sz="3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816352" y="43616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tactics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56048" y="3794760"/>
            <a:ext cx="1993392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5010912" y="3904488"/>
            <a:ext cx="5509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010912" y="43616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devices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50608" y="3794760"/>
            <a:ext cx="1993392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7222625" y="3904488"/>
            <a:ext cx="2604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2563EB"/>
                </a:solidFill>
                <a:latin typeface="Courier New" pitchFamily="34" charset="0"/>
                <a:cs typeface="Courier New" pitchFamily="34" charset="-120"/>
              </a:rPr>
              <a:t>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205472" y="43616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507492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  </a:t>
            </a: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Akim Omar    ·    Kaisanov Zhantore    ·    Tazhibayev Arnur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" y="54132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   </a:t>
            </a: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Togzhanova K.O.        </a:t>
            </a: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  </a:t>
            </a: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6B06302 — Hardware Security</a:t>
            </a:r>
            <a:endParaRPr lang="en-US" sz="14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943600"/>
            <a:ext cx="219456" cy="21945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59536" y="5907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ai.imperium.kz</a:t>
            </a:r>
            <a:endParaRPr lang="en-US" sz="12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5943600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310128" y="5907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github.com/Omarigato/ImperiumAI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424367" y="5907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Almaty · IITU · 2026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3526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 Project Defense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&amp; RESEARCH OBJECTIVES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project sets out to build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57839" cy="841248"/>
          </a:xfrm>
          <a:prstGeom prst="roundRect">
            <a:avLst>
              <a:gd name="adj" fmla="val 1087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143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0078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1463040"/>
            <a:ext cx="1005199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 </a:t>
            </a:r>
            <a:r>
              <a:rPr lang="en-US" sz="14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implement and experimentally evaluate a multi-agent AI red-teaming framework that tests the resilience of LLM-integrated IoT systems.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6928" y="2615184"/>
            <a:ext cx="350306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768096" y="28163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768096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354" y="283464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" y="3273552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68096" y="3584448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security, IoT threat modeling, MITRE ATLAS, and existing frameworks (Garak, PyRIT, PromptBench, MASTERKEY).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4344314" y="2615184"/>
            <a:ext cx="350306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Shape 10"/>
          <p:cNvSpPr/>
          <p:nvPr/>
        </p:nvSpPr>
        <p:spPr>
          <a:xfrm>
            <a:off x="4545482" y="28163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1"/>
          <p:cNvSpPr/>
          <p:nvPr/>
        </p:nvSpPr>
        <p:spPr>
          <a:xfrm>
            <a:off x="454548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8741" y="283464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45482" y="3273552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architecture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45482" y="3584448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specialised agents — ShadowInjector, ContextPhantom, PrivilegeReaper, SilentEscalator, NetworkPhantom.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8121701" y="2615184"/>
            <a:ext cx="350306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5"/>
          <p:cNvSpPr/>
          <p:nvPr/>
        </p:nvSpPr>
        <p:spPr>
          <a:xfrm>
            <a:off x="8322869" y="28163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6"/>
          <p:cNvSpPr/>
          <p:nvPr/>
        </p:nvSpPr>
        <p:spPr>
          <a:xfrm>
            <a:off x="8322869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6127" y="283464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22869" y="3273552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322869" y="3584448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Multi-LLM router, regex policy engine, 19-device IoT simulator, 0–100 risk scorer, adaptive attack memory.</a:t>
            </a:r>
            <a:endParaRPr lang="en-US" sz="1030" dirty="0"/>
          </a:p>
        </p:txBody>
      </p:sp>
      <p:sp>
        <p:nvSpPr>
          <p:cNvPr id="25" name="Shape 19"/>
          <p:cNvSpPr/>
          <p:nvPr/>
        </p:nvSpPr>
        <p:spPr>
          <a:xfrm>
            <a:off x="566928" y="4370832"/>
            <a:ext cx="350306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6" name="Shape 20"/>
          <p:cNvSpPr/>
          <p:nvPr/>
        </p:nvSpPr>
        <p:spPr>
          <a:xfrm>
            <a:off x="768096" y="4572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1"/>
          <p:cNvSpPr/>
          <p:nvPr/>
        </p:nvSpPr>
        <p:spPr>
          <a:xfrm>
            <a:off x="768096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1354" y="4590288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68096" y="5029200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Three.js frontend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68096" y="5340096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procedural 3D battle arena, analytics dashboard, batch testing, interactive defense controls.</a:t>
            </a:r>
            <a:endParaRPr lang="en-US" sz="1030" dirty="0"/>
          </a:p>
        </p:txBody>
      </p:sp>
      <p:sp>
        <p:nvSpPr>
          <p:cNvPr id="31" name="Shape 24"/>
          <p:cNvSpPr/>
          <p:nvPr/>
        </p:nvSpPr>
        <p:spPr>
          <a:xfrm>
            <a:off x="4344314" y="4370832"/>
            <a:ext cx="350306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2" name="Shape 25"/>
          <p:cNvSpPr/>
          <p:nvPr/>
        </p:nvSpPr>
        <p:spPr>
          <a:xfrm>
            <a:off x="4545482" y="4572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3" name="Text 26"/>
          <p:cNvSpPr/>
          <p:nvPr/>
        </p:nvSpPr>
        <p:spPr>
          <a:xfrm>
            <a:off x="4545482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8741" y="4590288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545482" y="5029200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evaluation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4545482" y="5340096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independent battle sessions across 4 LLM configurations; success, bypass and risk-trajectory metrics.</a:t>
            </a:r>
            <a:endParaRPr lang="en-US" sz="1030" dirty="0"/>
          </a:p>
        </p:txBody>
      </p:sp>
      <p:sp>
        <p:nvSpPr>
          <p:cNvPr id="37" name="Shape 29"/>
          <p:cNvSpPr/>
          <p:nvPr/>
        </p:nvSpPr>
        <p:spPr>
          <a:xfrm>
            <a:off x="8121701" y="4370832"/>
            <a:ext cx="350306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8" name="Shape 30"/>
          <p:cNvSpPr/>
          <p:nvPr/>
        </p:nvSpPr>
        <p:spPr>
          <a:xfrm>
            <a:off x="8322869" y="4572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9" name="Text 31"/>
          <p:cNvSpPr/>
          <p:nvPr/>
        </p:nvSpPr>
        <p:spPr>
          <a:xfrm>
            <a:off x="8322869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76127" y="4590288"/>
            <a:ext cx="310896" cy="31089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322869" y="5029200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deployment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8322869" y="5340096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ai.imperium.kz over HTTPS/WSS via Docker Compose with reproducible results.</a:t>
            </a:r>
            <a:endParaRPr lang="en-US" sz="1030" dirty="0"/>
          </a:p>
        </p:txBody>
      </p:sp>
      <p:sp>
        <p:nvSpPr>
          <p:cNvPr id="43" name="Text 34"/>
          <p:cNvSpPr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33526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&amp; Objectives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built ImperiumAI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47488" y="1554480"/>
            <a:ext cx="6577279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5285232" y="1810512"/>
            <a:ext cx="768096" cy="76809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285232" y="18105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217920" y="1773936"/>
            <a:ext cx="5205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Akim Omar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1205179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6217920" y="2286000"/>
            <a:ext cx="12051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532827" y="2286000"/>
            <a:ext cx="1148486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7532827" y="2286000"/>
            <a:ext cx="1148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engine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791043" y="2286000"/>
            <a:ext cx="1446428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8791043" y="2286000"/>
            <a:ext cx="14045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 mapping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047488" y="3017520"/>
            <a:ext cx="6577279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5285232" y="3273552"/>
            <a:ext cx="768096" cy="7680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5285232" y="32735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KZ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17920" y="3236976"/>
            <a:ext cx="5205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Kaisanov Zhantore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978408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6217920" y="374904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306056" y="3749040"/>
            <a:ext cx="865022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7306056" y="3749040"/>
            <a:ext cx="8650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280806" y="3749040"/>
            <a:ext cx="865022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8280806" y="3749040"/>
            <a:ext cx="8650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simulator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047488" y="4480560"/>
            <a:ext cx="6577279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6" name="Shape 24"/>
          <p:cNvSpPr/>
          <p:nvPr/>
        </p:nvSpPr>
        <p:spPr>
          <a:xfrm>
            <a:off x="5285232" y="4736592"/>
            <a:ext cx="768096" cy="768096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5285232" y="47365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217920" y="4700016"/>
            <a:ext cx="5205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Tazhibayev Arnur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217920" y="5212080"/>
            <a:ext cx="1658722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6217920" y="5212080"/>
            <a:ext cx="1658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Three.js frontend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986370" y="5212080"/>
            <a:ext cx="1431950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7986370" y="5212080"/>
            <a:ext cx="1431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evaluation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528048" y="5212080"/>
            <a:ext cx="1091794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4" name="Text 32"/>
          <p:cNvSpPr/>
          <p:nvPr/>
        </p:nvSpPr>
        <p:spPr>
          <a:xfrm>
            <a:off x="9528048" y="5212080"/>
            <a:ext cx="109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deployment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526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13</a:t>
            </a:r>
            <a:endParaRPr lang="en-US" sz="90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3154680"/>
            <a:ext cx="603504" cy="60350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66928" y="3767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Photo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566928" y="40599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your group photo here</a:t>
            </a:r>
            <a:endParaRPr lang="en-US" sz="1000" dirty="0"/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A95FE176-23CC-011E-A492-AD9FDDB5D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037" y="1554480"/>
            <a:ext cx="1148485" cy="128016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99994486-E1F8-D29C-07C9-6A8EF4B4B2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063" y="3008376"/>
            <a:ext cx="1122083" cy="128016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5924E600-3067-5605-ECCE-852A789D89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037" y="4480560"/>
            <a:ext cx="1148485" cy="128016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E6728B77-DE51-56BF-EAAA-219613D02B5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789"/>
          <a:stretch>
            <a:fillRect/>
          </a:stretch>
        </p:blipFill>
        <p:spPr>
          <a:xfrm>
            <a:off x="452397" y="1499616"/>
            <a:ext cx="4190238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— PROBLEM &amp; 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class of cyber-physical threats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49908"/>
            <a:ext cx="6492240" cy="2547620"/>
          </a:xfrm>
          <a:prstGeom prst="roundRect">
            <a:avLst>
              <a:gd name="adj" fmla="val 3922"/>
            </a:avLst>
          </a:prstGeom>
          <a:solidFill>
            <a:srgbClr val="FFF7F3"/>
          </a:solidFill>
          <a:ln w="12700">
            <a:solidFill>
              <a:srgbClr val="FDE3D3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5564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3584" y="173736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1248" y="2225040"/>
            <a:ext cx="5980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increasingly control IoT devices in smart homes and industrial settings. This creates a new threat class — an attacker can seize control of physical devices through language-level vulnerabilities.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3102864"/>
            <a:ext cx="5980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frameworks (Garak, PyRIT, PromptBench, MASTERKEY) test only text vulnerabilities — they ignore physical IoT impact, and no unified cyber-physical risk metric exists.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70064" y="1517904"/>
            <a:ext cx="4254703" cy="75895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7053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28432" y="1627632"/>
            <a:ext cx="3431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028432" y="1883664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comprehensive LLM-IoT security assessment methods.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370064" y="2340864"/>
            <a:ext cx="4254703" cy="76885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52831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28432" y="2450592"/>
            <a:ext cx="3431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need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028432" y="2706624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market grows ~16%/yr — 16.7B devices in use.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7333488" y="3191256"/>
            <a:ext cx="4254703" cy="87426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337870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91856" y="3300984"/>
            <a:ext cx="3431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relevance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7991856" y="3557016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LLMs are 20–40 pp more vulnerable than deterministic baselines.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66928" y="4673600"/>
            <a:ext cx="2558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2" name="Text 16"/>
          <p:cNvSpPr/>
          <p:nvPr/>
        </p:nvSpPr>
        <p:spPr>
          <a:xfrm>
            <a:off x="603504" y="4819904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16.7B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621792" y="5295392"/>
            <a:ext cx="244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devices (2023)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99968" y="4673600"/>
            <a:ext cx="2558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Text 19"/>
          <p:cNvSpPr/>
          <p:nvPr/>
        </p:nvSpPr>
        <p:spPr>
          <a:xfrm>
            <a:off x="3436544" y="4819904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65%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3454832" y="5295392"/>
            <a:ext cx="244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attack success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233008" y="4673600"/>
            <a:ext cx="2558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8" name="Text 22"/>
          <p:cNvSpPr/>
          <p:nvPr/>
        </p:nvSpPr>
        <p:spPr>
          <a:xfrm>
            <a:off x="6269584" y="4819904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+20–40pp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6287872" y="5295392"/>
            <a:ext cx="244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 vs. simulation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066047" y="4673600"/>
            <a:ext cx="2558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1" name="Text 25"/>
          <p:cNvSpPr/>
          <p:nvPr/>
        </p:nvSpPr>
        <p:spPr>
          <a:xfrm>
            <a:off x="9102623" y="4819904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$50K+</a:t>
            </a:r>
            <a:endParaRPr lang="en-US" sz="2800" dirty="0"/>
          </a:p>
        </p:txBody>
      </p:sp>
      <p:sp>
        <p:nvSpPr>
          <p:cNvPr id="32" name="Text 26"/>
          <p:cNvSpPr/>
          <p:nvPr/>
        </p:nvSpPr>
        <p:spPr>
          <a:xfrm>
            <a:off x="9120911" y="5295392"/>
            <a:ext cx="244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 per incident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33526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OBJECT, SUBJECT &amp; 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technology stack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73472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841248" y="1737360"/>
            <a:ext cx="491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2066544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intelligent IoT control systems — smart homes and cyber-physical infrastructures.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1296" y="1517904"/>
            <a:ext cx="5373472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6525616" y="1737360"/>
            <a:ext cx="491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25616" y="2066544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red-teaming methods to detect and assess LLM vulnerabilities in cyber-physical systems.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200400"/>
            <a:ext cx="3478682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38144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43584" y="3419856"/>
            <a:ext cx="26557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2960" y="3913632"/>
            <a:ext cx="296661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841248" y="4041648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modeling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evaluation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 taxonomy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56506" y="3200400"/>
            <a:ext cx="3478682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538" y="3438144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33162" y="3419856"/>
            <a:ext cx="26557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12538" y="3913632"/>
            <a:ext cx="296661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5"/>
          <p:cNvSpPr/>
          <p:nvPr/>
        </p:nvSpPr>
        <p:spPr>
          <a:xfrm>
            <a:off x="4630826" y="4041648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3.11 · FastAPI 0.104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 0.1 · SQLAlchemy 2.0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15 · Docker 24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 · Gemini · </a:t>
            </a:r>
            <a:r>
              <a:rPr lang="en-US" sz="1100" dirty="0" err="1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</a:t>
            </a: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r>
              <a:rPr lang="en-US" sz="1100" dirty="0" err="1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</a:t>
            </a:r>
            <a:endParaRPr lang="en-US" sz="1100" dirty="0">
              <a:solidFill>
                <a:srgbClr val="33415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r>
              <a:rPr lang="en-US" sz="1100" dirty="0" err="1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OpenRouter</a:t>
            </a: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r>
              <a:rPr lang="en-US" sz="1100" dirty="0" err="1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SimulationClient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46085" y="3200400"/>
            <a:ext cx="3478682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117" y="3438144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22741" y="3419856"/>
            <a:ext cx="26557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402117" y="3913632"/>
            <a:ext cx="296661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19"/>
          <p:cNvSpPr/>
          <p:nvPr/>
        </p:nvSpPr>
        <p:spPr>
          <a:xfrm>
            <a:off x="8420405" y="4041648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14 · React 18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Three.js r160 (3D)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WebSocket (RFC 6455)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Recharts · Tailwind CSS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3526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ImperiumAI is wired together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036003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1310610" y="16459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131061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" y="2231136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ShadowInjector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" y="2450592"/>
            <a:ext cx="19445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822387" y="1481328"/>
            <a:ext cx="2036003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3566069" y="164592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3566069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68107" y="2231136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ContextPhantom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68107" y="2450592"/>
            <a:ext cx="19445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Manipulation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77846" y="1481328"/>
            <a:ext cx="2036003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5821528" y="164592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582152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3566" y="2231136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PrivilegeReaper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3566" y="2450592"/>
            <a:ext cx="19445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Escalation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333305" y="1481328"/>
            <a:ext cx="2036003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8076987" y="164592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8076987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79025" y="2231136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SilentEscalator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79025" y="2450592"/>
            <a:ext cx="19445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Erosion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588764" y="1481328"/>
            <a:ext cx="2036003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10332446" y="164592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10332446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34484" y="2231136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NetworkPhantom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34484" y="2450592"/>
            <a:ext cx="19445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MITM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66928" y="1225296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RED-TEAM AGENTS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2962656"/>
            <a:ext cx="2599868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163824"/>
            <a:ext cx="329184" cy="32918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68096" y="3566160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Multi-LLM Router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68096" y="3840480"/>
            <a:ext cx="2215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providers: OpenAI, </a:t>
            </a:r>
            <a:r>
              <a:rPr lang="en-US" sz="96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r>
              <a:rPr lang="en-US" sz="9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6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</a:t>
            </a:r>
            <a:r>
              <a:rPr lang="en-US" sz="9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Gemini, </a:t>
            </a:r>
            <a:r>
              <a:rPr lang="en-US" sz="96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</a:t>
            </a:r>
            <a:r>
              <a:rPr lang="en-US" sz="9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6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SimulationClient</a:t>
            </a:r>
            <a:r>
              <a:rPr lang="en-US" sz="9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Strategy + Factory pattern.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3386252" y="2962656"/>
            <a:ext cx="2599868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708" y="3163824"/>
            <a:ext cx="329184" cy="32918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587420" y="3566160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3587420" y="3840480"/>
            <a:ext cx="2215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regex detection patterns + per-tactic stealth model (probabilistic bypass).</a:t>
            </a:r>
            <a:endParaRPr lang="en-US" sz="960" dirty="0"/>
          </a:p>
        </p:txBody>
      </p:sp>
      <p:sp>
        <p:nvSpPr>
          <p:cNvPr id="38" name="Shape 34"/>
          <p:cNvSpPr/>
          <p:nvPr/>
        </p:nvSpPr>
        <p:spPr>
          <a:xfrm>
            <a:off x="6205576" y="2962656"/>
            <a:ext cx="2599868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032" y="3163824"/>
            <a:ext cx="329184" cy="32918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406744" y="3566160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Simulator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406744" y="3840480"/>
            <a:ext cx="2215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devices with safe-state defaults and a full action catalogue.</a:t>
            </a:r>
            <a:endParaRPr lang="en-US" sz="960" dirty="0"/>
          </a:p>
        </p:txBody>
      </p:sp>
      <p:sp>
        <p:nvSpPr>
          <p:cNvPr id="42" name="Shape 37"/>
          <p:cNvSpPr/>
          <p:nvPr/>
        </p:nvSpPr>
        <p:spPr>
          <a:xfrm>
            <a:off x="9024899" y="2962656"/>
            <a:ext cx="2599868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4355" y="3163824"/>
            <a:ext cx="329184" cy="329184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226067" y="3566160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45" name="Text 39"/>
          <p:cNvSpPr/>
          <p:nvPr/>
        </p:nvSpPr>
        <p:spPr>
          <a:xfrm>
            <a:off x="9226067" y="3840480"/>
            <a:ext cx="2215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 severity-driven score: safe → elevated → critical → breach.</a:t>
            </a:r>
            <a:endParaRPr lang="en-US" sz="960" dirty="0"/>
          </a:p>
        </p:txBody>
      </p:sp>
      <p:sp>
        <p:nvSpPr>
          <p:cNvPr id="46" name="Shape 40"/>
          <p:cNvSpPr/>
          <p:nvPr/>
        </p:nvSpPr>
        <p:spPr>
          <a:xfrm>
            <a:off x="566928" y="4745736"/>
            <a:ext cx="11057839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143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7" name="Text 41"/>
          <p:cNvSpPr/>
          <p:nvPr/>
        </p:nvSpPr>
        <p:spPr>
          <a:xfrm>
            <a:off x="841248" y="4892040"/>
            <a:ext cx="32287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841248" y="5148072"/>
            <a:ext cx="32287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15 · SQLAlchemy 2.0 · Attack Memory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4527194" y="4892040"/>
            <a:ext cx="32287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4527194" y="5148072"/>
            <a:ext cx="32287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14 · Three.js 3D Arena · WebSocket real-time</a:t>
            </a:r>
            <a:endParaRPr lang="en-US" sz="1050" dirty="0"/>
          </a:p>
        </p:txBody>
      </p:sp>
      <p:sp>
        <p:nvSpPr>
          <p:cNvPr id="51" name="Shape 45"/>
          <p:cNvSpPr/>
          <p:nvPr/>
        </p:nvSpPr>
        <p:spPr>
          <a:xfrm>
            <a:off x="4252874" y="4910328"/>
            <a:ext cx="0" cy="5394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2" name="Text 46"/>
          <p:cNvSpPr/>
          <p:nvPr/>
        </p:nvSpPr>
        <p:spPr>
          <a:xfrm>
            <a:off x="8213141" y="4892040"/>
            <a:ext cx="32287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8213141" y="5148072"/>
            <a:ext cx="32287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ai.imperium.kz · Docker Compose · Nginx TLS</a:t>
            </a:r>
            <a:endParaRPr lang="en-US" sz="1050" dirty="0"/>
          </a:p>
        </p:txBody>
      </p:sp>
      <p:sp>
        <p:nvSpPr>
          <p:cNvPr id="54" name="Shape 48"/>
          <p:cNvSpPr/>
          <p:nvPr/>
        </p:nvSpPr>
        <p:spPr>
          <a:xfrm>
            <a:off x="7938821" y="4910328"/>
            <a:ext cx="0" cy="5394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5" name="Text 49"/>
          <p:cNvSpPr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33526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 — REAL CODE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6766560" cy="41148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blurRad="1143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060704" y="17373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298448" y="173736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1755648" y="1664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app/security/policy_engine.py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2011680"/>
            <a:ext cx="64008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859536" y="2157984"/>
            <a:ext cx="6217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per-tactic stealth: subtle tactics slip past detection
</a:t>
            </a: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TACTIC_STEALTH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
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"direct_injection"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"incremental_trust"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0.65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</a:t>
            </a: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hardest to catch
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"semantic_drift"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 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}
</a:t>
            </a: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prompt, tactic):
</a:t>
            </a: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pattern, label </a:t>
            </a: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_INJECTION_PATTERNS:
</a:t>
            </a: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pattern.search(prompt):
            stealth = TACTIC_STEALTH.get(tactic,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random.random() &lt; stealth:
</a:t>
            </a: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</a:t>
            </a: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bypassed!
</a:t>
            </a: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blocked(label)
</a:t>
            </a: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allowed()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44384" y="1517904"/>
            <a:ext cx="3980383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719072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66176" y="1700784"/>
            <a:ext cx="3157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+ probability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82128" y="2029968"/>
            <a:ext cx="352318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compiled patterns catch known injections; a stealth model lets subtle tactics slip through — mirroring real detection gaps.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7644384" y="2935224"/>
            <a:ext cx="3980383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13639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66176" y="3118104"/>
            <a:ext cx="3157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→ risk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882128" y="3447288"/>
            <a:ext cx="352318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verdict feeds the risk engine: +delta on success, −recovery on block, clamped to 0–100.</a:t>
            </a:r>
            <a:endParaRPr lang="en-US" sz="1030" dirty="0"/>
          </a:p>
        </p:txBody>
      </p:sp>
      <p:sp>
        <p:nvSpPr>
          <p:cNvPr id="19" name="Shape 15"/>
          <p:cNvSpPr/>
          <p:nvPr/>
        </p:nvSpPr>
        <p:spPr>
          <a:xfrm>
            <a:off x="7644384" y="4352544"/>
            <a:ext cx="3980383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4553712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66176" y="4535424"/>
            <a:ext cx="3157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memory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882128" y="4864608"/>
            <a:ext cx="352318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avoid tactics blocked 3+ times in a row; learning persists via SQLAlchemy (SQLite / PostgreSQL).</a:t>
            </a:r>
            <a:endParaRPr lang="en-US" sz="1030" dirty="0"/>
          </a:p>
        </p:txBody>
      </p:sp>
      <p:sp>
        <p:nvSpPr>
          <p:cNvPr id="23" name="Text 18"/>
          <p:cNvSpPr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3526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· Code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CB09EA70-E4CC-A619-3E23-0D6B39F12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54386"/>
            <a:ext cx="6986016" cy="407011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platform — ai.imperium.kz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644384" y="1517904"/>
            <a:ext cx="3980383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7190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66176" y="1700784"/>
            <a:ext cx="3157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Battle Arena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882128" y="2029968"/>
            <a:ext cx="35231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IoT nodes, agents as crystals, animated attack beams, ShieldDome; bloom intensifies with risk score.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7644384" y="2880360"/>
            <a:ext cx="3980383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308152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66176" y="3063240"/>
            <a:ext cx="3157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Analytics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882128" y="3392424"/>
            <a:ext cx="35231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Recharts visualizations — tactic chart, vulnerability bar, risk line, agent radar; refresh every 5s.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7644384" y="4242816"/>
            <a:ext cx="3980383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4443984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66176" y="4425696"/>
            <a:ext cx="3157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+ Trilingual UI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7882128" y="4754880"/>
            <a:ext cx="35231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10 rounds, 4 LLM configs, memory reset; EN/RU/KZ, three themes, Focus Mode.</a:t>
            </a:r>
            <a:endParaRPr lang="en-US" sz="1030" dirty="0"/>
          </a:p>
        </p:txBody>
      </p:sp>
      <p:sp>
        <p:nvSpPr>
          <p:cNvPr id="22" name="Text 16"/>
          <p:cNvSpPr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33526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· Live System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DEPLOYMENT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view and container topology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638544" y="1499616"/>
            <a:ext cx="49862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topology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38544" y="1901952"/>
          <a:ext cx="4986223" cy="2286000"/>
        </p:xfrm>
        <a:graphic>
          <a:graphicData uri="http://schemas.openxmlformats.org/drawingml/2006/table">
            <a:tbl>
              <a:tblPr/>
              <a:tblGrid>
                <a:gridCol w="1994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FastAPI backend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python:3.11-slim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postgres:16-alpine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5432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frontend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node:20-alpine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Nginx proxy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nginx:alpine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80/443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638544" y="4462272"/>
            <a:ext cx="4986223" cy="1170432"/>
          </a:xfrm>
          <a:prstGeom prst="roundRect">
            <a:avLst>
              <a:gd name="adj" fmla="val 781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6634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4645152"/>
            <a:ext cx="42547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by design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876288" y="4956048"/>
            <a:ext cx="45290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Render Blueprint (render.yaml) · TLS + WSS via Nginx · Let's Encrypt · health-checked services.</a:t>
            </a:r>
            <a:endParaRPr lang="en-US" sz="1030" dirty="0"/>
          </a:p>
        </p:txBody>
      </p:sp>
      <p:sp>
        <p:nvSpPr>
          <p:cNvPr id="16" name="Text 11"/>
          <p:cNvSpPr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3526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13</a:t>
            </a:r>
            <a:endParaRPr lang="en-US" sz="9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9A407FB-EC56-40B5-33FC-D7C730F81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76" y="1499616"/>
            <a:ext cx="5944964" cy="41663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battles · </a:t>
            </a:r>
            <a:r>
              <a:rPr lang="ru-RU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LLM configs · 1</a:t>
            </a:r>
            <a:r>
              <a:rPr lang="ru-RU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tactics · 10 rounds/battle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9436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841248" y="16824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win rate by configuration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49808" y="1975104"/>
          <a:ext cx="55778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821424" y="1517904"/>
            <a:ext cx="4803343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67728" y="1700784"/>
          <a:ext cx="4510735" cy="2651760"/>
        </p:xfrm>
        <a:graphic>
          <a:graphicData uri="http://schemas.openxmlformats.org/drawingml/2006/table">
            <a:tbl>
              <a:tblPr/>
              <a:tblGrid>
                <a:gridCol w="1894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2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2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Simulation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41.3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Groq 70B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63.7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Gemini 2.0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55.2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— Multi-LLM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72.1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882896"/>
            <a:ext cx="5943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Text 6"/>
          <p:cNvSpPr/>
          <p:nvPr/>
        </p:nvSpPr>
        <p:spPr>
          <a:xfrm>
            <a:off x="841248" y="50292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tactics by success</a:t>
            </a:r>
            <a:endParaRPr lang="en-US" sz="1250" dirty="0"/>
          </a:p>
        </p:txBody>
      </p:sp>
      <p:sp>
        <p:nvSpPr>
          <p:cNvPr id="8" name="Text 7"/>
          <p:cNvSpPr/>
          <p:nvPr/>
        </p:nvSpPr>
        <p:spPr>
          <a:xfrm>
            <a:off x="841248" y="53400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incremental_trust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898648" y="5358384"/>
            <a:ext cx="3200400" cy="12801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Shape 9"/>
          <p:cNvSpPr/>
          <p:nvPr/>
        </p:nvSpPr>
        <p:spPr>
          <a:xfrm>
            <a:off x="2898648" y="5358384"/>
            <a:ext cx="2080260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0"/>
          <p:cNvSpPr/>
          <p:nvPr/>
        </p:nvSpPr>
        <p:spPr>
          <a:xfrm>
            <a:off x="6153912" y="5321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65%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41248" y="55001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semantic_drift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898648" y="5518404"/>
            <a:ext cx="3200400" cy="12801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Shape 13"/>
          <p:cNvSpPr/>
          <p:nvPr/>
        </p:nvSpPr>
        <p:spPr>
          <a:xfrm>
            <a:off x="2898648" y="5518404"/>
            <a:ext cx="1952244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4"/>
          <p:cNvSpPr/>
          <p:nvPr/>
        </p:nvSpPr>
        <p:spPr>
          <a:xfrm>
            <a:off x="6153912" y="54818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61%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41248" y="56601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chain_of_thought_exploit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898648" y="5678424"/>
            <a:ext cx="3200400" cy="12801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Shape 17"/>
          <p:cNvSpPr/>
          <p:nvPr/>
        </p:nvSpPr>
        <p:spPr>
          <a:xfrm>
            <a:off x="2898648" y="5678424"/>
            <a:ext cx="1920240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18"/>
          <p:cNvSpPr/>
          <p:nvPr/>
        </p:nvSpPr>
        <p:spPr>
          <a:xfrm>
            <a:off x="6153912" y="56418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60%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41248" y="58201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boundary_erosion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898648" y="5838444"/>
            <a:ext cx="3200400" cy="12801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Shape 21"/>
          <p:cNvSpPr/>
          <p:nvPr/>
        </p:nvSpPr>
        <p:spPr>
          <a:xfrm>
            <a:off x="2898648" y="5838444"/>
            <a:ext cx="17282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2"/>
          <p:cNvSpPr/>
          <p:nvPr/>
        </p:nvSpPr>
        <p:spPr>
          <a:xfrm>
            <a:off x="6153912" y="58018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54%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41248" y="59801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multi_step_attack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2898648" y="5998464"/>
            <a:ext cx="3200400" cy="12801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Shape 25"/>
          <p:cNvSpPr/>
          <p:nvPr/>
        </p:nvSpPr>
        <p:spPr>
          <a:xfrm>
            <a:off x="2898648" y="5998464"/>
            <a:ext cx="17282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Text 26"/>
          <p:cNvSpPr/>
          <p:nvPr/>
        </p:nvSpPr>
        <p:spPr>
          <a:xfrm>
            <a:off x="6153912" y="59618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54%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821424" y="4882896"/>
            <a:ext cx="4803343" cy="1325880"/>
          </a:xfrm>
          <a:prstGeom prst="roundRect">
            <a:avLst>
              <a:gd name="adj" fmla="val 6897"/>
            </a:avLst>
          </a:prstGeom>
          <a:solidFill>
            <a:srgbClr val="FFF7F3"/>
          </a:solidFill>
          <a:ln w="12700">
            <a:solidFill>
              <a:srgbClr val="FDE3D3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5102352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498080" y="5084064"/>
            <a:ext cx="38889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7095744" y="5431536"/>
            <a:ext cx="42912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LLMs are more vulnerable than the deterministic baseline by 20–40 percentage points.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33526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 &amp; SIGNIFICANCE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beyond the demo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2558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03504" y="164592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70% → 20%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21792" y="2157984"/>
            <a:ext cx="244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win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414016"/>
            <a:ext cx="244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Shield + Counter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99968" y="1517904"/>
            <a:ext cx="2558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3436544" y="164592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&gt;800%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454832" y="2157984"/>
            <a:ext cx="244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4832" y="2414016"/>
            <a:ext cx="244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incident damage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33008" y="1517904"/>
            <a:ext cx="2558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269584" y="164592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$10–20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287872" y="2157984"/>
            <a:ext cx="244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/ month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7872" y="2414016"/>
            <a:ext cx="244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cost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66047" y="1517904"/>
            <a:ext cx="2558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9102623" y="164592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120911" y="2157984"/>
            <a:ext cx="244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sessions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20911" y="2414016"/>
            <a:ext cx="244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reproducible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2980944"/>
            <a:ext cx="3503066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18688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16736" y="3218688"/>
            <a:ext cx="2588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41248" y="3730752"/>
            <a:ext cx="295442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922776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33856" y="3858768"/>
            <a:ext cx="27166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red-teaming methodology for LLM-IoT systems</a:t>
            </a:r>
            <a:endParaRPr lang="en-US" sz="11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489704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33856" y="4425696"/>
            <a:ext cx="27166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 of 25 attack techniques mapped to MITRE ATLAS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056632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33856" y="4992624"/>
            <a:ext cx="27166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risk-scoring model for cyber-physical systems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344314" y="2980944"/>
            <a:ext cx="3503066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634" y="3218688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94122" y="3218688"/>
            <a:ext cx="2588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4618634" y="3730752"/>
            <a:ext cx="295442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922" y="3922776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911242" y="3858768"/>
            <a:ext cx="27166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platform on ai.imperium.kz for researchers</a:t>
            </a:r>
            <a:endParaRPr lang="en-US" sz="11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922" y="4489704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911242" y="4425696"/>
            <a:ext cx="27166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experiments via public web interface</a:t>
            </a:r>
            <a:endParaRPr lang="en-US" sz="11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922" y="5056632"/>
            <a:ext cx="182880" cy="18288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911242" y="4992624"/>
            <a:ext cx="27166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through Render Blueprint — one-click fork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8121701" y="2980944"/>
            <a:ext cx="3503066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021" y="3218688"/>
            <a:ext cx="365760" cy="36576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8871509" y="3218688"/>
            <a:ext cx="2588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43" name="Shape 32"/>
          <p:cNvSpPr/>
          <p:nvPr/>
        </p:nvSpPr>
        <p:spPr>
          <a:xfrm>
            <a:off x="8396021" y="3730752"/>
            <a:ext cx="295442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4309" y="3922776"/>
            <a:ext cx="182880" cy="18288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688629" y="3858768"/>
            <a:ext cx="27166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deployment on real infrastructure</a:t>
            </a:r>
            <a:endParaRPr lang="en-US" sz="11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4309" y="4489704"/>
            <a:ext cx="182880" cy="18288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8688629" y="4425696"/>
            <a:ext cx="27166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on GitHub (Omarigato/ImperiumAI)</a:t>
            </a:r>
            <a:endParaRPr lang="en-US" sz="1100" dirty="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4309" y="5056632"/>
            <a:ext cx="182880" cy="182880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8688629" y="4992624"/>
            <a:ext cx="27166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metric traceable via battle-history database</a:t>
            </a:r>
            <a:endParaRPr lang="en-US" sz="1100" dirty="0"/>
          </a:p>
        </p:txBody>
      </p:sp>
      <p:sp>
        <p:nvSpPr>
          <p:cNvPr id="50" name="Text 36"/>
          <p:cNvSpPr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900" dirty="0"/>
          </a:p>
        </p:txBody>
      </p:sp>
      <p:sp>
        <p:nvSpPr>
          <p:cNvPr id="51" name="Text 37"/>
          <p:cNvSpPr/>
          <p:nvPr/>
        </p:nvSpPr>
        <p:spPr>
          <a:xfrm>
            <a:off x="33526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52" name="Text 38"/>
          <p:cNvSpPr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takeaways from the project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78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804672" y="1728216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804672" y="17282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17904" y="168249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the gap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07408" y="1664208"/>
            <a:ext cx="69430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 of 45 sources showed existing LLM frameworks (Garak, PyRIT, PromptBench) ignore physical impact on IoT environments.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804672" y="2679192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804672" y="26791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17904" y="26334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framework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07408" y="2615184"/>
            <a:ext cx="69430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 architecture with 5 agents and 25 attack techniques mapped to MITRE ATLAS — the first such system for LLM-IoT.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66928" y="3456432"/>
            <a:ext cx="110578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804672" y="3630168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804672" y="36301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17904" y="3584448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end-to-end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07408" y="3566160"/>
            <a:ext cx="69430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 (multi-LLM router, 26-pattern policy engine, 19-device IoT simulator) plus a Next.js + Three.js 3D interface.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66928" y="4407408"/>
            <a:ext cx="110578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804672" y="4581144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804672" y="45811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17904" y="4535424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the risk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07408" y="4517136"/>
            <a:ext cx="69430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LLMs exceed the deterministic baseline by 20–40 pp; multi-agent Mix-LLM reaches a 70% win rate — protect the weakest link.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566928" y="5358384"/>
            <a:ext cx="110578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804672" y="55321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804672" y="5532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17904" y="548640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Showed defense works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07408" y="5468112"/>
            <a:ext cx="69430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 + CounterMeasures cut the win rate from 70% to 20% — a human in the loop is critical; semantic bypass remains open.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526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146304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2563EB">
              <a:alpha val="14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645920" y="4114800"/>
            <a:ext cx="4023360" cy="4023360"/>
          </a:xfrm>
          <a:prstGeom prst="roundRect">
            <a:avLst>
              <a:gd name="adj" fmla="val 50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 PROJECT DEFENSE ·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7556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27432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answer the committee's questions.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66928" y="3657600"/>
            <a:ext cx="42976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9776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38404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353312" y="40965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ai.imperium.kz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175504" y="3657600"/>
            <a:ext cx="42976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4" y="3977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61888" y="38404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961888" y="40965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github.com/Omarigato/ImperiumAI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6928" y="512064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Akim Omar  ·  Kaisanov Zhantore  ·  Tazhibayev Arnur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Advisor: Togzhanova K.O.  ·  6B06302 — Hardware Security  ·  IITU · Almaty 2026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66928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ImperiumAI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527487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13</a:t>
            </a:r>
            <a:endParaRPr lang="en-US" sz="9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3011FF7-CC87-7BD0-3361-87962F51134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9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26777" y="3652520"/>
            <a:ext cx="1001904" cy="990990"/>
          </a:xfrm>
          <a:prstGeom prst="rect">
            <a:avLst/>
          </a:prstGeom>
          <a:noFill/>
          <a:effectLst>
            <a:softEdge rad="381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1506</Words>
  <Application>Microsoft Office PowerPoint</Application>
  <PresentationFormat>Широкоэкранный</PresentationFormat>
  <Paragraphs>307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ImperiumAI — AI-Based Red Teaming Framework</dc:title>
  <dc:subject>PptxGenJS Presentation</dc:subject>
  <dc:creator>ImperiumAI Team</dc:creator>
  <cp:lastModifiedBy>Omar Akim</cp:lastModifiedBy>
  <cp:revision>9</cp:revision>
  <dcterms:created xsi:type="dcterms:W3CDTF">2026-06-10T13:31:38Z</dcterms:created>
  <dcterms:modified xsi:type="dcterms:W3CDTF">2026-06-11T22:21:28Z</dcterms:modified>
</cp:coreProperties>
</file>