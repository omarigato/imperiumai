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68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%</c:v>
                </c:pt>
              </c:strCache>
            </c:strRef>
          </c:tx>
          <c:spPr>
            <a:solidFill>
              <a:srgbClr val="2563EB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11827"/>
                    </a:solidFill>
                    <a:latin typeface="Courier New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 · Simulation</c:v>
                </c:pt>
                <c:pt idx="1">
                  <c:v>B · Groq 70B</c:v>
                </c:pt>
                <c:pt idx="2">
                  <c:v>C · Gemini 2.0</c:v>
                </c:pt>
                <c:pt idx="3">
                  <c:v>D · Multi-LLM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60</c:v>
                </c:pt>
                <c:pt idx="2">
                  <c:v>50</c:v>
                </c:pt>
                <c:pt idx="3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F8-4606-96D7-8228A8CDC62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22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4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85455" y="-1280160"/>
            <a:ext cx="5029200" cy="5029200"/>
          </a:xfrm>
          <a:prstGeom prst="roundRect">
            <a:avLst>
              <a:gd name="adj" fmla="val 50000"/>
            </a:avLst>
          </a:prstGeom>
          <a:solidFill>
            <a:srgbClr val="2563EB">
              <a:alpha val="14000"/>
            </a:srgbClr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" name="Shape 1"/>
          <p:cNvSpPr/>
          <p:nvPr/>
        </p:nvSpPr>
        <p:spPr>
          <a:xfrm>
            <a:off x="-1463040" y="3931920"/>
            <a:ext cx="4206240" cy="4206240"/>
          </a:xfrm>
          <a:prstGeom prst="roundRect">
            <a:avLst>
              <a:gd name="adj" fmla="val 50000"/>
            </a:avLst>
          </a:prstGeom>
          <a:solidFill>
            <a:srgbClr val="2563EB">
              <a:alpha val="10000"/>
            </a:srgbClr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4" name="Text 2"/>
          <p:cNvSpPr/>
          <p:nvPr/>
        </p:nvSpPr>
        <p:spPr>
          <a:xfrm>
            <a:off x="566928" y="74980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TECHNOLOGY &amp; CYBERSECURITY  ·  6B06302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66928" y="1078992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6" name="Text 4"/>
          <p:cNvSpPr/>
          <p:nvPr/>
        </p:nvSpPr>
        <p:spPr>
          <a:xfrm>
            <a:off x="566928" y="1078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DIPLOMA PROJECT  ·  2026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15544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566928" y="2542032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2100" dirty="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of an AI-Based Red Teaming Framework for Testing LLMs Integrated into Smart Home and IoT Systems</a:t>
            </a:r>
          </a:p>
        </p:txBody>
      </p:sp>
      <p:sp>
        <p:nvSpPr>
          <p:cNvPr id="9" name="Shape 7"/>
          <p:cNvSpPr/>
          <p:nvPr/>
        </p:nvSpPr>
        <p:spPr>
          <a:xfrm>
            <a:off x="566928" y="3794760"/>
            <a:ext cx="1993392" cy="9144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0" name="Text 8"/>
          <p:cNvSpPr/>
          <p:nvPr/>
        </p:nvSpPr>
        <p:spPr>
          <a:xfrm>
            <a:off x="667827" y="3904488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21792" y="4361688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 agents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61488" y="3794760"/>
            <a:ext cx="1993392" cy="9144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KZ" dirty="0"/>
          </a:p>
        </p:txBody>
      </p:sp>
      <p:sp>
        <p:nvSpPr>
          <p:cNvPr id="13" name="Text 11"/>
          <p:cNvSpPr/>
          <p:nvPr/>
        </p:nvSpPr>
        <p:spPr>
          <a:xfrm>
            <a:off x="2852928" y="3904488"/>
            <a:ext cx="554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ru-RU" sz="30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816352" y="4361688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tactics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56048" y="3794760"/>
            <a:ext cx="1993392" cy="9144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6" name="Text 14"/>
          <p:cNvSpPr/>
          <p:nvPr/>
        </p:nvSpPr>
        <p:spPr>
          <a:xfrm>
            <a:off x="5010912" y="3904488"/>
            <a:ext cx="5509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010912" y="4361688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devices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50608" y="3794760"/>
            <a:ext cx="1993392" cy="91440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9" name="Text 17"/>
          <p:cNvSpPr/>
          <p:nvPr/>
        </p:nvSpPr>
        <p:spPr>
          <a:xfrm>
            <a:off x="7222625" y="3904488"/>
            <a:ext cx="2604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dirty="0">
                <a:solidFill>
                  <a:srgbClr val="2563EB"/>
                </a:solidFill>
                <a:latin typeface="Courier New" pitchFamily="34" charset="0"/>
                <a:cs typeface="Courier New" pitchFamily="34" charset="-120"/>
              </a:rPr>
              <a:t>6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205472" y="4361688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providers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50749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  </a:t>
            </a: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Akim Omar    ·    Kaisanov Zhantore    ·    Tazhibayev Arnur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6928" y="54132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   </a:t>
            </a: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Togzhanova K.O.        </a:t>
            </a: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Specialty   </a:t>
            </a: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6B06302 — Hardware Security</a:t>
            </a:r>
            <a:endParaRPr lang="en-US" sz="1400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943600"/>
            <a:ext cx="219456" cy="219456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859536" y="59070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ai.imperium.kz</a:t>
            </a:r>
            <a:endParaRPr lang="en-US" sz="1200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808" y="5943600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310128" y="59070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github.com/Omarigato/ImperiumAI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424367" y="590702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Almaty · IITU · 2026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Diploma Project Defense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&amp; RESEARCH OBJECTIVES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project sets out to build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blurRad="114300" dist="38100" dir="5400000" algn="bl" rotWithShape="0">
              <a:srgbClr val="0F172A">
                <a:alpha val="18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00784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53312" y="1463040"/>
            <a:ext cx="1005199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kern="0" spc="2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  </a:t>
            </a:r>
            <a:r>
              <a:rPr lang="en-US" sz="145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Design, implement and experimentally evaluate a multi-agent AI red-teaming framework that tests the resilience of LLM-integrated IoT systems.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66928" y="2615184"/>
            <a:ext cx="3503066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8" name="Shape 5"/>
          <p:cNvSpPr/>
          <p:nvPr/>
        </p:nvSpPr>
        <p:spPr>
          <a:xfrm>
            <a:off x="768096" y="28163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9" name="Text 6"/>
          <p:cNvSpPr/>
          <p:nvPr/>
        </p:nvSpPr>
        <p:spPr>
          <a:xfrm>
            <a:off x="768096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1354" y="283464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" y="3273552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68096" y="3584448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security, IoT threat modeling, MITRE ATLAS, and existing frameworks (Garak, PyRIT, PromptBench, MASTERKEY).</a:t>
            </a:r>
            <a:endParaRPr lang="en-US" sz="1030" dirty="0"/>
          </a:p>
        </p:txBody>
      </p:sp>
      <p:sp>
        <p:nvSpPr>
          <p:cNvPr id="13" name="Shape 9"/>
          <p:cNvSpPr/>
          <p:nvPr/>
        </p:nvSpPr>
        <p:spPr>
          <a:xfrm>
            <a:off x="4344314" y="2615184"/>
            <a:ext cx="3503066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14" name="Shape 10"/>
          <p:cNvSpPr/>
          <p:nvPr/>
        </p:nvSpPr>
        <p:spPr>
          <a:xfrm>
            <a:off x="4545482" y="28163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5" name="Text 11"/>
          <p:cNvSpPr/>
          <p:nvPr/>
        </p:nvSpPr>
        <p:spPr>
          <a:xfrm>
            <a:off x="454548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8741" y="2834640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45482" y="3273552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architecture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545482" y="3584448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specialised agents — ShadowInjector, ContextPhantom, PrivilegeReaper, SilentEscalator, NetworkPhantom.</a:t>
            </a:r>
            <a:endParaRPr lang="en-US" sz="1030" dirty="0"/>
          </a:p>
        </p:txBody>
      </p:sp>
      <p:sp>
        <p:nvSpPr>
          <p:cNvPr id="19" name="Shape 14"/>
          <p:cNvSpPr/>
          <p:nvPr/>
        </p:nvSpPr>
        <p:spPr>
          <a:xfrm>
            <a:off x="8121701" y="2615184"/>
            <a:ext cx="3503066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20" name="Shape 15"/>
          <p:cNvSpPr/>
          <p:nvPr/>
        </p:nvSpPr>
        <p:spPr>
          <a:xfrm>
            <a:off x="8322869" y="28163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1" name="Text 16"/>
          <p:cNvSpPr/>
          <p:nvPr/>
        </p:nvSpPr>
        <p:spPr>
          <a:xfrm>
            <a:off x="8322869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6127" y="2834640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322869" y="3273552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backend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8322869" y="3584448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Multi-LLM router, regex policy engine, 19-device IoT simulator, 0–100 risk scorer, adaptive attack memory.</a:t>
            </a:r>
            <a:endParaRPr lang="en-US" sz="1030" dirty="0"/>
          </a:p>
        </p:txBody>
      </p:sp>
      <p:sp>
        <p:nvSpPr>
          <p:cNvPr id="25" name="Shape 19"/>
          <p:cNvSpPr/>
          <p:nvPr/>
        </p:nvSpPr>
        <p:spPr>
          <a:xfrm>
            <a:off x="566928" y="4370832"/>
            <a:ext cx="3503066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26" name="Shape 20"/>
          <p:cNvSpPr/>
          <p:nvPr/>
        </p:nvSpPr>
        <p:spPr>
          <a:xfrm>
            <a:off x="768096" y="45720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7" name="Text 21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1354" y="4590288"/>
            <a:ext cx="310896" cy="31089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68096" y="5029200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+ Three.js frontend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768096" y="5340096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procedural 3D battle arena, analytics dashboard, batch testing, interactive defense controls.</a:t>
            </a:r>
            <a:endParaRPr lang="en-US" sz="1030" dirty="0"/>
          </a:p>
        </p:txBody>
      </p:sp>
      <p:sp>
        <p:nvSpPr>
          <p:cNvPr id="31" name="Shape 24"/>
          <p:cNvSpPr/>
          <p:nvPr/>
        </p:nvSpPr>
        <p:spPr>
          <a:xfrm>
            <a:off x="4344314" y="4370832"/>
            <a:ext cx="3503066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32" name="Shape 25"/>
          <p:cNvSpPr/>
          <p:nvPr/>
        </p:nvSpPr>
        <p:spPr>
          <a:xfrm>
            <a:off x="4545482" y="45720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3" name="Text 26"/>
          <p:cNvSpPr/>
          <p:nvPr/>
        </p:nvSpPr>
        <p:spPr>
          <a:xfrm>
            <a:off x="4545482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8741" y="4590288"/>
            <a:ext cx="310896" cy="310896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4545482" y="5029200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evaluation</a:t>
            </a:r>
            <a:endParaRPr lang="en-US" sz="1400" dirty="0"/>
          </a:p>
        </p:txBody>
      </p:sp>
      <p:sp>
        <p:nvSpPr>
          <p:cNvPr id="36" name="Text 28"/>
          <p:cNvSpPr/>
          <p:nvPr/>
        </p:nvSpPr>
        <p:spPr>
          <a:xfrm>
            <a:off x="4545482" y="5340096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independent battle sessions across 4 LLM configurations; success, bypass and risk-trajectory metrics.</a:t>
            </a:r>
            <a:endParaRPr lang="en-US" sz="1030" dirty="0"/>
          </a:p>
        </p:txBody>
      </p:sp>
      <p:sp>
        <p:nvSpPr>
          <p:cNvPr id="37" name="Shape 29"/>
          <p:cNvSpPr/>
          <p:nvPr/>
        </p:nvSpPr>
        <p:spPr>
          <a:xfrm>
            <a:off x="8121701" y="4370832"/>
            <a:ext cx="3503066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38" name="Shape 30"/>
          <p:cNvSpPr/>
          <p:nvPr/>
        </p:nvSpPr>
        <p:spPr>
          <a:xfrm>
            <a:off x="8322869" y="45720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9" name="Text 31"/>
          <p:cNvSpPr/>
          <p:nvPr/>
        </p:nvSpPr>
        <p:spPr>
          <a:xfrm>
            <a:off x="8322869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76127" y="4590288"/>
            <a:ext cx="310896" cy="310896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8322869" y="5029200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deployment</a:t>
            </a:r>
            <a:endParaRPr lang="en-US" sz="1400" dirty="0"/>
          </a:p>
        </p:txBody>
      </p:sp>
      <p:sp>
        <p:nvSpPr>
          <p:cNvPr id="42" name="Text 33"/>
          <p:cNvSpPr/>
          <p:nvPr/>
        </p:nvSpPr>
        <p:spPr>
          <a:xfrm>
            <a:off x="8322869" y="5340096"/>
            <a:ext cx="3119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ai.imperium.kz over HTTPS/WSS via Docker Compose with reproducible results.</a:t>
            </a:r>
            <a:endParaRPr lang="en-US" sz="1030" dirty="0"/>
          </a:p>
        </p:txBody>
      </p:sp>
      <p:sp>
        <p:nvSpPr>
          <p:cNvPr id="43" name="Text 34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44" name="Text 35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&amp; Objectives</a:t>
            </a:r>
            <a:endParaRPr lang="en-US" sz="900" dirty="0"/>
          </a:p>
        </p:txBody>
      </p:sp>
      <p:sp>
        <p:nvSpPr>
          <p:cNvPr id="45" name="Text 36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TEAM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built ImperiumAI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047488" y="1554480"/>
            <a:ext cx="6577279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6" name="Shape 4"/>
          <p:cNvSpPr/>
          <p:nvPr/>
        </p:nvSpPr>
        <p:spPr>
          <a:xfrm>
            <a:off x="5285232" y="1810512"/>
            <a:ext cx="768096" cy="768096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7" name="Text 5"/>
          <p:cNvSpPr/>
          <p:nvPr/>
        </p:nvSpPr>
        <p:spPr>
          <a:xfrm>
            <a:off x="5285232" y="181051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217920" y="1773936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Akim Omar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1205179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0" name="Text 8"/>
          <p:cNvSpPr/>
          <p:nvPr/>
        </p:nvSpPr>
        <p:spPr>
          <a:xfrm>
            <a:off x="6217920" y="2286000"/>
            <a:ext cx="12051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7532827" y="228600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2" name="Text 10"/>
          <p:cNvSpPr/>
          <p:nvPr/>
        </p:nvSpPr>
        <p:spPr>
          <a:xfrm>
            <a:off x="7532827" y="2286000"/>
            <a:ext cx="11484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engine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8791043" y="2286000"/>
            <a:ext cx="1446428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4" name="Text 12"/>
          <p:cNvSpPr/>
          <p:nvPr/>
        </p:nvSpPr>
        <p:spPr>
          <a:xfrm>
            <a:off x="8791043" y="2286000"/>
            <a:ext cx="14045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MITRE ATLAS mapping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5047488" y="3017520"/>
            <a:ext cx="6577279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16" name="Shape 14"/>
          <p:cNvSpPr/>
          <p:nvPr/>
        </p:nvSpPr>
        <p:spPr>
          <a:xfrm>
            <a:off x="5285232" y="3273552"/>
            <a:ext cx="768096" cy="768096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7" name="Text 15"/>
          <p:cNvSpPr/>
          <p:nvPr/>
        </p:nvSpPr>
        <p:spPr>
          <a:xfrm>
            <a:off x="5285232" y="327355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KZ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217920" y="3236976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Kaisanov Zhantore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217920" y="3749040"/>
            <a:ext cx="978408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0" name="Text 18"/>
          <p:cNvSpPr/>
          <p:nvPr/>
        </p:nvSpPr>
        <p:spPr>
          <a:xfrm>
            <a:off x="6217920" y="3749040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backend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7306056" y="3749040"/>
            <a:ext cx="865022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2" name="Text 20"/>
          <p:cNvSpPr/>
          <p:nvPr/>
        </p:nvSpPr>
        <p:spPr>
          <a:xfrm>
            <a:off x="7306056" y="3749040"/>
            <a:ext cx="8650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engine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8280806" y="3749040"/>
            <a:ext cx="865022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4" name="Text 22"/>
          <p:cNvSpPr/>
          <p:nvPr/>
        </p:nvSpPr>
        <p:spPr>
          <a:xfrm>
            <a:off x="8280806" y="3749040"/>
            <a:ext cx="8650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simulator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5047488" y="4480560"/>
            <a:ext cx="6577279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26" name="Shape 24"/>
          <p:cNvSpPr/>
          <p:nvPr/>
        </p:nvSpPr>
        <p:spPr>
          <a:xfrm>
            <a:off x="5285232" y="4736592"/>
            <a:ext cx="768096" cy="768096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7" name="Text 25"/>
          <p:cNvSpPr/>
          <p:nvPr/>
        </p:nvSpPr>
        <p:spPr>
          <a:xfrm>
            <a:off x="5285232" y="473659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217920" y="4700016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Tazhibayev Arnur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217920" y="5212080"/>
            <a:ext cx="1658722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0" name="Text 28"/>
          <p:cNvSpPr/>
          <p:nvPr/>
        </p:nvSpPr>
        <p:spPr>
          <a:xfrm>
            <a:off x="6217920" y="5212080"/>
            <a:ext cx="16587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+ Three.js frontend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7986370" y="5212080"/>
            <a:ext cx="1431950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2" name="Text 30"/>
          <p:cNvSpPr/>
          <p:nvPr/>
        </p:nvSpPr>
        <p:spPr>
          <a:xfrm>
            <a:off x="7986370" y="5212080"/>
            <a:ext cx="14319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evaluation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9528048" y="5212080"/>
            <a:ext cx="1091794" cy="2743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4" name="Text 32"/>
          <p:cNvSpPr/>
          <p:nvPr/>
        </p:nvSpPr>
        <p:spPr>
          <a:xfrm>
            <a:off x="9528048" y="5212080"/>
            <a:ext cx="10917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deployment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13</a:t>
            </a:r>
            <a:endParaRPr lang="en-US" sz="900" dirty="0"/>
          </a:p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576" y="3154680"/>
            <a:ext cx="603504" cy="603504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566928" y="37673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Photo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566928" y="40599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your group photo here</a:t>
            </a:r>
            <a:endParaRPr lang="en-US" sz="1000" dirty="0"/>
          </a:p>
        </p:txBody>
      </p:sp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A95FE176-23CC-011E-A492-AD9FDDB5D0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5037" y="1554480"/>
            <a:ext cx="1148485" cy="128016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99994486-E1F8-D29C-07C9-6A8EF4B4B2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2063" y="3008376"/>
            <a:ext cx="1122083" cy="128016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5924E600-3067-5605-ECCE-852A789D89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5037" y="4480560"/>
            <a:ext cx="1148485" cy="128016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E6728B77-DE51-56BF-EAAA-219613D02B5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14789"/>
          <a:stretch>
            <a:fillRect/>
          </a:stretch>
        </p:blipFill>
        <p:spPr>
          <a:xfrm>
            <a:off x="452397" y="1499616"/>
            <a:ext cx="419023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 — PROBLEM &amp; CONTEXT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class of cyber-physical threats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49908"/>
            <a:ext cx="6492240" cy="2547620"/>
          </a:xfrm>
          <a:prstGeom prst="roundRect">
            <a:avLst>
              <a:gd name="adj" fmla="val 3922"/>
            </a:avLst>
          </a:prstGeom>
          <a:solidFill>
            <a:srgbClr val="FFF7F3"/>
          </a:solidFill>
          <a:ln w="12700">
            <a:solidFill>
              <a:srgbClr val="FDE3D3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55648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3584" y="173736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" y="2225040"/>
            <a:ext cx="5980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increasingly control IoT devices in smart homes and industrial settings. This creates a new threat class — an attacker can seize control of physical devices through language-level vulnerabilities.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1248" y="3102864"/>
            <a:ext cx="5980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frameworks (Garak, PyRIT, PromptBench, MASTERKEY) test only text vulnerabilities — they ignore physical IoT impact, and no unified cyber-physical risk metric exists.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70064" y="1517904"/>
            <a:ext cx="4254703" cy="758952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0535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28432" y="1627632"/>
            <a:ext cx="3431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028432" y="1883664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comprehensive LLM-IoT security assessment methods.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7370064" y="2340864"/>
            <a:ext cx="4254703" cy="768858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2528316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028432" y="2450592"/>
            <a:ext cx="3431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need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8028432" y="2706624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market grows ~16%/yr — 16.7B devices in use.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7333488" y="3191256"/>
            <a:ext cx="4254703" cy="874268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2944" y="3378708"/>
            <a:ext cx="310896" cy="31089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991856" y="3300984"/>
            <a:ext cx="3431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relevance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7991856" y="3557016"/>
            <a:ext cx="34134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LLMs are 20–40 pp more vulnerable than deterministic baselines.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566928" y="4673600"/>
            <a:ext cx="25587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22" name="Text 16"/>
          <p:cNvSpPr/>
          <p:nvPr/>
        </p:nvSpPr>
        <p:spPr>
          <a:xfrm>
            <a:off x="603504" y="4819904"/>
            <a:ext cx="248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16.7B</a:t>
            </a:r>
            <a:endParaRPr lang="en-US" sz="2800" dirty="0"/>
          </a:p>
        </p:txBody>
      </p:sp>
      <p:sp>
        <p:nvSpPr>
          <p:cNvPr id="23" name="Text 17"/>
          <p:cNvSpPr/>
          <p:nvPr/>
        </p:nvSpPr>
        <p:spPr>
          <a:xfrm>
            <a:off x="621792" y="5295392"/>
            <a:ext cx="244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devices (2023)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3399968" y="4673600"/>
            <a:ext cx="25587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25" name="Text 19"/>
          <p:cNvSpPr/>
          <p:nvPr/>
        </p:nvSpPr>
        <p:spPr>
          <a:xfrm>
            <a:off x="3436544" y="4819904"/>
            <a:ext cx="248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65%</a:t>
            </a:r>
            <a:endParaRPr lang="en-US" sz="2800" dirty="0"/>
          </a:p>
        </p:txBody>
      </p:sp>
      <p:sp>
        <p:nvSpPr>
          <p:cNvPr id="26" name="Text 20"/>
          <p:cNvSpPr/>
          <p:nvPr/>
        </p:nvSpPr>
        <p:spPr>
          <a:xfrm>
            <a:off x="3454832" y="5295392"/>
            <a:ext cx="244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attack success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6233008" y="4673600"/>
            <a:ext cx="25587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28" name="Text 22"/>
          <p:cNvSpPr/>
          <p:nvPr/>
        </p:nvSpPr>
        <p:spPr>
          <a:xfrm>
            <a:off x="6269584" y="4819904"/>
            <a:ext cx="248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+20–40pp</a:t>
            </a:r>
            <a:endParaRPr lang="en-US" sz="2800" dirty="0"/>
          </a:p>
        </p:txBody>
      </p:sp>
      <p:sp>
        <p:nvSpPr>
          <p:cNvPr id="29" name="Text 23"/>
          <p:cNvSpPr/>
          <p:nvPr/>
        </p:nvSpPr>
        <p:spPr>
          <a:xfrm>
            <a:off x="6287872" y="5295392"/>
            <a:ext cx="244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 vs. simulation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9066047" y="4673600"/>
            <a:ext cx="25587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31" name="Text 25"/>
          <p:cNvSpPr/>
          <p:nvPr/>
        </p:nvSpPr>
        <p:spPr>
          <a:xfrm>
            <a:off x="9102623" y="4819904"/>
            <a:ext cx="248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$50K+</a:t>
            </a:r>
            <a:endParaRPr lang="en-US" sz="2800" dirty="0"/>
          </a:p>
        </p:txBody>
      </p:sp>
      <p:sp>
        <p:nvSpPr>
          <p:cNvPr id="32" name="Text 26"/>
          <p:cNvSpPr/>
          <p:nvPr/>
        </p:nvSpPr>
        <p:spPr>
          <a:xfrm>
            <a:off x="9120911" y="5295392"/>
            <a:ext cx="244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per incident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OBJECT, SUBJECT &amp; METHODOLOGY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and technology stack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73472" cy="137160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blurRad="114300" dist="38100" dir="5400000" algn="bl" rotWithShape="0">
              <a:srgbClr val="0F172A">
                <a:alpha val="16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5" name="Text 3"/>
          <p:cNvSpPr/>
          <p:nvPr/>
        </p:nvSpPr>
        <p:spPr>
          <a:xfrm>
            <a:off x="841248" y="1737360"/>
            <a:ext cx="491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2066544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LLM-based intelligent IoT control systems — smart homes and cyber-physical infrastructures.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51296" y="1517904"/>
            <a:ext cx="5373472" cy="1371600"/>
          </a:xfrm>
          <a:prstGeom prst="roundRect">
            <a:avLst>
              <a:gd name="adj" fmla="val 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6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8" name="Text 6"/>
          <p:cNvSpPr/>
          <p:nvPr/>
        </p:nvSpPr>
        <p:spPr>
          <a:xfrm>
            <a:off x="6525616" y="1737360"/>
            <a:ext cx="491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25616" y="2066544"/>
            <a:ext cx="486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red-teaming methods to detect and assess LLM vulnerabilities in cyber-physical systems.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347868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38144"/>
            <a:ext cx="329184" cy="32918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43584" y="3419856"/>
            <a:ext cx="2655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3913632"/>
            <a:ext cx="2966618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4" name="Text 11"/>
          <p:cNvSpPr/>
          <p:nvPr/>
        </p:nvSpPr>
        <p:spPr>
          <a:xfrm>
            <a:off x="841248" y="4041648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modeling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analysis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evaluation</a:t>
            </a:r>
            <a:endParaRPr lang="en-US" sz="12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MITRE ATLAS taxonomy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356506" y="3200400"/>
            <a:ext cx="347868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3438144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033162" y="3419856"/>
            <a:ext cx="2655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12538" y="3913632"/>
            <a:ext cx="2966618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9" name="Text 15"/>
          <p:cNvSpPr/>
          <p:nvPr/>
        </p:nvSpPr>
        <p:spPr>
          <a:xfrm>
            <a:off x="4630826" y="4041648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3.11 · FastAPI 0.104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LangChain 0.1 · SQLAlchemy 2.0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 15 · Docker 24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GPT-4o · Gemini · Claude · Mistral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146085" y="3200400"/>
            <a:ext cx="347868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2117" y="3438144"/>
            <a:ext cx="329184" cy="3291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22741" y="3419856"/>
            <a:ext cx="2655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8402117" y="3913632"/>
            <a:ext cx="2966618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24" name="Text 19"/>
          <p:cNvSpPr/>
          <p:nvPr/>
        </p:nvSpPr>
        <p:spPr>
          <a:xfrm>
            <a:off x="8420405" y="4041648"/>
            <a:ext cx="296661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Next.js 14 · React 18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Three.js r160 (3D)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WebSocket (RFC 6455)</a:t>
            </a:r>
            <a:endParaRPr lang="en-US" sz="11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Recharts · Tailwind CSS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ImperiumAI is wired together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36003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5" name="Shape 3"/>
          <p:cNvSpPr/>
          <p:nvPr/>
        </p:nvSpPr>
        <p:spPr>
          <a:xfrm>
            <a:off x="1310610" y="1645920"/>
            <a:ext cx="548640" cy="5486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6" name="Text 4"/>
          <p:cNvSpPr/>
          <p:nvPr/>
        </p:nvSpPr>
        <p:spPr>
          <a:xfrm>
            <a:off x="131061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12648" y="2231136"/>
            <a:ext cx="19445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ShadowInjector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12648" y="2450592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2822387" y="1481328"/>
            <a:ext cx="2036003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10" name="Shape 8"/>
          <p:cNvSpPr/>
          <p:nvPr/>
        </p:nvSpPr>
        <p:spPr>
          <a:xfrm>
            <a:off x="3566069" y="164592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1" name="Text 9"/>
          <p:cNvSpPr/>
          <p:nvPr/>
        </p:nvSpPr>
        <p:spPr>
          <a:xfrm>
            <a:off x="3566069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68107" y="2231136"/>
            <a:ext cx="19445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ContextPhantom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68107" y="2450592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Manipulation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077846" y="1481328"/>
            <a:ext cx="2036003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15" name="Shape 13"/>
          <p:cNvSpPr/>
          <p:nvPr/>
        </p:nvSpPr>
        <p:spPr>
          <a:xfrm>
            <a:off x="5821528" y="1645920"/>
            <a:ext cx="548640" cy="54864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6" name="Text 14"/>
          <p:cNvSpPr/>
          <p:nvPr/>
        </p:nvSpPr>
        <p:spPr>
          <a:xfrm>
            <a:off x="582152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23566" y="2231136"/>
            <a:ext cx="19445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PrivilegeReaper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3566" y="2450592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Privilege Escalation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7333305" y="1481328"/>
            <a:ext cx="2036003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20" name="Shape 18"/>
          <p:cNvSpPr/>
          <p:nvPr/>
        </p:nvSpPr>
        <p:spPr>
          <a:xfrm>
            <a:off x="8076987" y="1645920"/>
            <a:ext cx="548640" cy="5486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1" name="Text 19"/>
          <p:cNvSpPr/>
          <p:nvPr/>
        </p:nvSpPr>
        <p:spPr>
          <a:xfrm>
            <a:off x="8076987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79025" y="2231136"/>
            <a:ext cx="19445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SilentEscalator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79025" y="2450592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 Erosion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9588764" y="1481328"/>
            <a:ext cx="2036003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25" name="Shape 23"/>
          <p:cNvSpPr/>
          <p:nvPr/>
        </p:nvSpPr>
        <p:spPr>
          <a:xfrm>
            <a:off x="10332446" y="164592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6" name="Text 24"/>
          <p:cNvSpPr/>
          <p:nvPr/>
        </p:nvSpPr>
        <p:spPr>
          <a:xfrm>
            <a:off x="10332446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34484" y="2231136"/>
            <a:ext cx="194456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NetworkPhantom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34484" y="2450592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MITM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566928" y="1225296"/>
            <a:ext cx="1105783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RED-TEAM AGENTS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2962656"/>
            <a:ext cx="2599868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3163824"/>
            <a:ext cx="329184" cy="329184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68096" y="356616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Multi-LLM Router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768096" y="3840480"/>
            <a:ext cx="22158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providers: GPT-4o, Gemini, Claude, Mistral, Groq, SimulationClient. Strategy + Factory pattern.</a:t>
            </a:r>
            <a:endParaRPr lang="en-US" sz="960" dirty="0"/>
          </a:p>
        </p:txBody>
      </p:sp>
      <p:sp>
        <p:nvSpPr>
          <p:cNvPr id="34" name="Shape 31"/>
          <p:cNvSpPr/>
          <p:nvPr/>
        </p:nvSpPr>
        <p:spPr>
          <a:xfrm>
            <a:off x="3386252" y="2962656"/>
            <a:ext cx="2599868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5708" y="3163824"/>
            <a:ext cx="329184" cy="32918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587420" y="356616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Engine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587420" y="3840480"/>
            <a:ext cx="22158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regex detection patterns + per-tactic stealth model (probabilistic bypass).</a:t>
            </a:r>
            <a:endParaRPr lang="en-US" sz="960" dirty="0"/>
          </a:p>
        </p:txBody>
      </p:sp>
      <p:sp>
        <p:nvSpPr>
          <p:cNvPr id="38" name="Shape 34"/>
          <p:cNvSpPr/>
          <p:nvPr/>
        </p:nvSpPr>
        <p:spPr>
          <a:xfrm>
            <a:off x="6205576" y="2962656"/>
            <a:ext cx="2599868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5032" y="3163824"/>
            <a:ext cx="329184" cy="329184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406744" y="356616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Simulator</a:t>
            </a:r>
            <a:endParaRPr lang="en-US" sz="1300" dirty="0"/>
          </a:p>
        </p:txBody>
      </p:sp>
      <p:sp>
        <p:nvSpPr>
          <p:cNvPr id="41" name="Text 36"/>
          <p:cNvSpPr/>
          <p:nvPr/>
        </p:nvSpPr>
        <p:spPr>
          <a:xfrm>
            <a:off x="6406744" y="3840480"/>
            <a:ext cx="22158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devices with safe-state defaults and a full action catalogue.</a:t>
            </a:r>
            <a:endParaRPr lang="en-US" sz="960" dirty="0"/>
          </a:p>
        </p:txBody>
      </p:sp>
      <p:sp>
        <p:nvSpPr>
          <p:cNvPr id="42" name="Shape 37"/>
          <p:cNvSpPr/>
          <p:nvPr/>
        </p:nvSpPr>
        <p:spPr>
          <a:xfrm>
            <a:off x="9024899" y="2962656"/>
            <a:ext cx="2599868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4355" y="3163824"/>
            <a:ext cx="329184" cy="329184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9226067" y="3566160"/>
            <a:ext cx="2234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Engine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9226067" y="3840480"/>
            <a:ext cx="22158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6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0–100 severity-driven score: safe → elevated → critical → breach.</a:t>
            </a:r>
            <a:endParaRPr lang="en-US" sz="960" dirty="0"/>
          </a:p>
        </p:txBody>
      </p:sp>
      <p:sp>
        <p:nvSpPr>
          <p:cNvPr id="46" name="Shape 40"/>
          <p:cNvSpPr/>
          <p:nvPr/>
        </p:nvSpPr>
        <p:spPr>
          <a:xfrm>
            <a:off x="566928" y="4745736"/>
            <a:ext cx="11057839" cy="868680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blurRad="114300" dist="38100" dir="5400000" algn="bl" rotWithShape="0">
              <a:srgbClr val="0F172A">
                <a:alpha val="16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47" name="Text 41"/>
          <p:cNvSpPr/>
          <p:nvPr/>
        </p:nvSpPr>
        <p:spPr>
          <a:xfrm>
            <a:off x="841248" y="4892040"/>
            <a:ext cx="32287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PERSISTENCE</a:t>
            </a:r>
            <a:endParaRPr lang="en-US" sz="1000" dirty="0"/>
          </a:p>
        </p:txBody>
      </p:sp>
      <p:sp>
        <p:nvSpPr>
          <p:cNvPr id="48" name="Text 42"/>
          <p:cNvSpPr/>
          <p:nvPr/>
        </p:nvSpPr>
        <p:spPr>
          <a:xfrm>
            <a:off x="841248" y="5148072"/>
            <a:ext cx="32287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 15 · SQLAlchemy 2.0 · Attack Memory</a:t>
            </a:r>
            <a:endParaRPr lang="en-US" sz="1050" dirty="0"/>
          </a:p>
        </p:txBody>
      </p:sp>
      <p:sp>
        <p:nvSpPr>
          <p:cNvPr id="49" name="Text 43"/>
          <p:cNvSpPr/>
          <p:nvPr/>
        </p:nvSpPr>
        <p:spPr>
          <a:xfrm>
            <a:off x="4527194" y="4892040"/>
            <a:ext cx="32287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000" dirty="0"/>
          </a:p>
        </p:txBody>
      </p:sp>
      <p:sp>
        <p:nvSpPr>
          <p:cNvPr id="50" name="Text 44"/>
          <p:cNvSpPr/>
          <p:nvPr/>
        </p:nvSpPr>
        <p:spPr>
          <a:xfrm>
            <a:off x="4527194" y="5148072"/>
            <a:ext cx="32287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Next.js 14 · Three.js 3D Arena · WebSocket real-time</a:t>
            </a:r>
            <a:endParaRPr lang="en-US" sz="1050" dirty="0"/>
          </a:p>
        </p:txBody>
      </p:sp>
      <p:sp>
        <p:nvSpPr>
          <p:cNvPr id="51" name="Shape 45"/>
          <p:cNvSpPr/>
          <p:nvPr/>
        </p:nvSpPr>
        <p:spPr>
          <a:xfrm>
            <a:off x="4252874" y="4910328"/>
            <a:ext cx="0" cy="539496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2" name="Text 46"/>
          <p:cNvSpPr/>
          <p:nvPr/>
        </p:nvSpPr>
        <p:spPr>
          <a:xfrm>
            <a:off x="8213141" y="4892040"/>
            <a:ext cx="32287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000" dirty="0"/>
          </a:p>
        </p:txBody>
      </p:sp>
      <p:sp>
        <p:nvSpPr>
          <p:cNvPr id="53" name="Text 47"/>
          <p:cNvSpPr/>
          <p:nvPr/>
        </p:nvSpPr>
        <p:spPr>
          <a:xfrm>
            <a:off x="8213141" y="5148072"/>
            <a:ext cx="32287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ai.imperium.kz · Docker Compose · Nginx TLS</a:t>
            </a:r>
            <a:endParaRPr lang="en-US" sz="1050" dirty="0"/>
          </a:p>
        </p:txBody>
      </p:sp>
      <p:sp>
        <p:nvSpPr>
          <p:cNvPr id="54" name="Shape 48"/>
          <p:cNvSpPr/>
          <p:nvPr/>
        </p:nvSpPr>
        <p:spPr>
          <a:xfrm>
            <a:off x="7938821" y="4910328"/>
            <a:ext cx="0" cy="539496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55" name="Text 49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56" name="Text 50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57" name="Text 51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ENGINE — REAL CODE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attack pipeline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6766560" cy="4114800"/>
          </a:xfrm>
          <a:prstGeom prst="roundRect">
            <a:avLst>
              <a:gd name="adj" fmla="val 2222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  <a:effectLst>
            <a:outerShdw blurRad="114300" dist="38100" dir="5400000" algn="bl" rotWithShape="0">
              <a:srgbClr val="0F172A">
                <a:alpha val="18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6" name="Shape 4"/>
          <p:cNvSpPr/>
          <p:nvPr/>
        </p:nvSpPr>
        <p:spPr>
          <a:xfrm>
            <a:off x="1060704" y="173736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7" name="Shape 5"/>
          <p:cNvSpPr/>
          <p:nvPr/>
        </p:nvSpPr>
        <p:spPr>
          <a:xfrm>
            <a:off x="1298448" y="1737360"/>
            <a:ext cx="128016" cy="128016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8" name="Text 6"/>
          <p:cNvSpPr/>
          <p:nvPr/>
        </p:nvSpPr>
        <p:spPr>
          <a:xfrm>
            <a:off x="1755648" y="1664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app/security/policy_engine.py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49808" y="2011680"/>
            <a:ext cx="640080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sp>
        <p:nvSpPr>
          <p:cNvPr id="10" name="Text 8"/>
          <p:cNvSpPr/>
          <p:nvPr/>
        </p:nvSpPr>
        <p:spPr>
          <a:xfrm>
            <a:off x="859536" y="2157984"/>
            <a:ext cx="6217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per-tactic stealth: subtle tactics slip past detection
</a:t>
            </a:r>
            <a:r>
              <a:rPr lang="en-US" sz="110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TACTIC_STEALTH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{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"direct_injection"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</a:t>
            </a: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"incremental_trust"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</a:t>
            </a: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0.65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 </a:t>
            </a: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hardest to catch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"semantic_drift"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</a:t>
            </a: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0.60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
}
</a:t>
            </a:r>
            <a:r>
              <a:rPr lang="en-US" sz="11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10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check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(self, prompt, tactic):
</a:t>
            </a:r>
            <a:r>
              <a:rPr lang="en-US" sz="11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pattern, label </a:t>
            </a:r>
            <a:r>
              <a:rPr lang="en-US" sz="11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_INJECTION_PATTERNS:
</a:t>
            </a:r>
            <a:r>
              <a:rPr lang="en-US" sz="11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pattern.search(prompt):
            stealth = TACTIC_STEALTH.get(tactic, </a:t>
            </a: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
</a:t>
            </a:r>
            <a:r>
              <a:rPr lang="en-US" sz="11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random.random() &lt; stealth:
</a:t>
            </a:r>
            <a:r>
              <a:rPr lang="en-US" sz="11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continue</a:t>
            </a:r>
            <a:r>
              <a:rPr lang="en-US" sz="11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bypassed!
</a:t>
            </a:r>
            <a:r>
              <a:rPr lang="en-US" sz="11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blocked(label)
</a:t>
            </a:r>
            <a:r>
              <a:rPr lang="en-US" sz="110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</a:t>
            </a: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allowed()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644384" y="1517904"/>
            <a:ext cx="3980383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719072"/>
            <a:ext cx="292608" cy="29260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266176" y="1700784"/>
            <a:ext cx="31574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 + probability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82128" y="2029968"/>
            <a:ext cx="352318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compiled patterns catch known injections; a stealth model lets subtle tactics slip through — mirroring real detection gaps.</a:t>
            </a:r>
            <a:endParaRPr lang="en-US" sz="1030" dirty="0"/>
          </a:p>
        </p:txBody>
      </p:sp>
      <p:sp>
        <p:nvSpPr>
          <p:cNvPr id="15" name="Shape 12"/>
          <p:cNvSpPr/>
          <p:nvPr/>
        </p:nvSpPr>
        <p:spPr>
          <a:xfrm>
            <a:off x="7644384" y="2935224"/>
            <a:ext cx="3980383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136392"/>
            <a:ext cx="292608" cy="29260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66176" y="3118104"/>
            <a:ext cx="31574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 → risk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882128" y="3447288"/>
            <a:ext cx="352318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verdict feeds the risk engine: +delta on success, −recovery on block, clamped to 0–100.</a:t>
            </a:r>
            <a:endParaRPr lang="en-US" sz="1030" dirty="0"/>
          </a:p>
        </p:txBody>
      </p:sp>
      <p:sp>
        <p:nvSpPr>
          <p:cNvPr id="19" name="Shape 15"/>
          <p:cNvSpPr/>
          <p:nvPr/>
        </p:nvSpPr>
        <p:spPr>
          <a:xfrm>
            <a:off x="7644384" y="4352544"/>
            <a:ext cx="3980383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553712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266176" y="4535424"/>
            <a:ext cx="31574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memory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7882128" y="4864608"/>
            <a:ext cx="352318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avoid tactics blocked 3+ times in a row; learning persists via SQLAlchemy (SQLite / PostgreSQL).</a:t>
            </a:r>
            <a:endParaRPr lang="en-US" sz="1030" dirty="0"/>
          </a:p>
        </p:txBody>
      </p:sp>
      <p:sp>
        <p:nvSpPr>
          <p:cNvPr id="23" name="Text 18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· Code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CB09EA70-E4CC-A619-3E23-0D6B39F125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54386"/>
            <a:ext cx="6986016" cy="4070114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IMPLEMENTATION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 platform — ai.imperium.kz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7644384" y="1517904"/>
            <a:ext cx="3980383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1719072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266176" y="1700784"/>
            <a:ext cx="31574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Battle Arena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7882128" y="2029968"/>
            <a:ext cx="3523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IoT nodes, agents as crystals, animated attack beams, ShieldDome; bloom intensifies with risk score.</a:t>
            </a:r>
            <a:endParaRPr lang="en-US" sz="1030" dirty="0"/>
          </a:p>
        </p:txBody>
      </p:sp>
      <p:sp>
        <p:nvSpPr>
          <p:cNvPr id="14" name="Shape 10"/>
          <p:cNvSpPr/>
          <p:nvPr/>
        </p:nvSpPr>
        <p:spPr>
          <a:xfrm>
            <a:off x="7644384" y="2880360"/>
            <a:ext cx="3980383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3081528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66176" y="3063240"/>
            <a:ext cx="31574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Analytics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7882128" y="3392424"/>
            <a:ext cx="3523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Recharts visualizations — tactic chart, vulnerability bar, risk line, agent radar; refresh every 5s.</a:t>
            </a:r>
            <a:endParaRPr lang="en-US" sz="1030" dirty="0"/>
          </a:p>
        </p:txBody>
      </p:sp>
      <p:sp>
        <p:nvSpPr>
          <p:cNvPr id="18" name="Shape 13"/>
          <p:cNvSpPr/>
          <p:nvPr/>
        </p:nvSpPr>
        <p:spPr>
          <a:xfrm>
            <a:off x="7644384" y="4242816"/>
            <a:ext cx="3980383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4443984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266176" y="4425696"/>
            <a:ext cx="31574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+ Trilingual UI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7882128" y="4754880"/>
            <a:ext cx="3523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03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10 rounds, 4 LLM configs, memory reset; EN/RU/KZ, three themes, Focus Mode.</a:t>
            </a:r>
            <a:endParaRPr lang="en-US" sz="1030" dirty="0"/>
          </a:p>
        </p:txBody>
      </p:sp>
      <p:sp>
        <p:nvSpPr>
          <p:cNvPr id="22" name="Text 16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· Live System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&amp; DEPLOYMENT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view and container topology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638544" y="1499616"/>
            <a:ext cx="49862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topology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38544" y="1901952"/>
          <a:ext cx="4986223" cy="2286000"/>
        </p:xfrm>
        <a:graphic>
          <a:graphicData uri="http://schemas.openxmlformats.org/drawingml/2006/table">
            <a:tbl>
              <a:tblPr/>
              <a:tblGrid>
                <a:gridCol w="19944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4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2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FastAPI backend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python:3.11-slim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postgres:16-alpine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5432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Next.js frontend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node:20-alpine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3000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Nginx proxy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nginx:alpine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80/443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638544" y="4462272"/>
            <a:ext cx="4986223" cy="1170432"/>
          </a:xfrm>
          <a:prstGeom prst="roundRect">
            <a:avLst>
              <a:gd name="adj" fmla="val 781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466344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223760" y="4645152"/>
            <a:ext cx="4254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 by design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6876288" y="4956048"/>
            <a:ext cx="4529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3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Render Blueprint (render.yaml) · TLS + WSS via Nginx · Let's Encrypt · health-checked services.</a:t>
            </a:r>
            <a:endParaRPr lang="en-US" sz="1030" dirty="0"/>
          </a:p>
        </p:txBody>
      </p:sp>
      <p:sp>
        <p:nvSpPr>
          <p:cNvPr id="16" name="Text 11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13</a:t>
            </a:r>
            <a:endParaRPr lang="en-US" sz="900" dirty="0"/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39A407FB-EC56-40B5-33FC-D7C730F81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276" y="1499616"/>
            <a:ext cx="5944964" cy="416632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RESULTS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battles · </a:t>
            </a:r>
            <a:r>
              <a:rPr lang="ru-RU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LLM configs · 1</a:t>
            </a:r>
            <a:r>
              <a:rPr lang="ru-RU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tactics · 10 rounds/battle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94360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5" name="Text 3"/>
          <p:cNvSpPr/>
          <p:nvPr/>
        </p:nvSpPr>
        <p:spPr>
          <a:xfrm>
            <a:off x="841248" y="16824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win rate by configuration</a:t>
            </a:r>
            <a:endParaRPr lang="en-US" sz="13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749808" y="1975104"/>
          <a:ext cx="557784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821424" y="1517904"/>
            <a:ext cx="4803343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67728" y="1700784"/>
          <a:ext cx="4510735" cy="2651760"/>
        </p:xfrm>
        <a:graphic>
          <a:graphicData uri="http://schemas.openxmlformats.org/drawingml/2006/table">
            <a:tbl>
              <a:tblPr/>
              <a:tblGrid>
                <a:gridCol w="1894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9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21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2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Bypass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Simulation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41.3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Groq 70B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Gemini 2.0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55.2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— Multi-LLM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70%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72.1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882896"/>
            <a:ext cx="5943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10" name="Text 6"/>
          <p:cNvSpPr/>
          <p:nvPr/>
        </p:nvSpPr>
        <p:spPr>
          <a:xfrm>
            <a:off x="841248" y="502920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Top-5 tactics by success</a:t>
            </a:r>
            <a:endParaRPr lang="en-US" sz="1250" dirty="0"/>
          </a:p>
        </p:txBody>
      </p:sp>
      <p:sp>
        <p:nvSpPr>
          <p:cNvPr id="8" name="Text 7"/>
          <p:cNvSpPr/>
          <p:nvPr/>
        </p:nvSpPr>
        <p:spPr>
          <a:xfrm>
            <a:off x="841248" y="5340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incremental_trust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898648" y="5358384"/>
            <a:ext cx="3200400" cy="128016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3" name="Shape 9"/>
          <p:cNvSpPr/>
          <p:nvPr/>
        </p:nvSpPr>
        <p:spPr>
          <a:xfrm>
            <a:off x="2898648" y="5358384"/>
            <a:ext cx="2080260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4" name="Text 10"/>
          <p:cNvSpPr/>
          <p:nvPr/>
        </p:nvSpPr>
        <p:spPr>
          <a:xfrm>
            <a:off x="6153912" y="532180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65%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841248" y="550011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semantic_drift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898648" y="5518404"/>
            <a:ext cx="3200400" cy="128016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7" name="Shape 13"/>
          <p:cNvSpPr/>
          <p:nvPr/>
        </p:nvSpPr>
        <p:spPr>
          <a:xfrm>
            <a:off x="2898648" y="5518404"/>
            <a:ext cx="1952244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8" name="Text 14"/>
          <p:cNvSpPr/>
          <p:nvPr/>
        </p:nvSpPr>
        <p:spPr>
          <a:xfrm>
            <a:off x="6153912" y="54818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61%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41248" y="56601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chain_of_thought_exploit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2898648" y="5678424"/>
            <a:ext cx="3200400" cy="128016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1" name="Shape 17"/>
          <p:cNvSpPr/>
          <p:nvPr/>
        </p:nvSpPr>
        <p:spPr>
          <a:xfrm>
            <a:off x="2898648" y="5678424"/>
            <a:ext cx="1920240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2" name="Text 18"/>
          <p:cNvSpPr/>
          <p:nvPr/>
        </p:nvSpPr>
        <p:spPr>
          <a:xfrm>
            <a:off x="6153912" y="56418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60%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41248" y="582015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boundary_erosion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2898648" y="5838444"/>
            <a:ext cx="3200400" cy="128016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5" name="Shape 21"/>
          <p:cNvSpPr/>
          <p:nvPr/>
        </p:nvSpPr>
        <p:spPr>
          <a:xfrm>
            <a:off x="2898648" y="5838444"/>
            <a:ext cx="17282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6" name="Text 22"/>
          <p:cNvSpPr/>
          <p:nvPr/>
        </p:nvSpPr>
        <p:spPr>
          <a:xfrm>
            <a:off x="6153912" y="58018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54%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841248" y="598017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multi_step_attack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2898648" y="5998464"/>
            <a:ext cx="3200400" cy="128016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9" name="Shape 25"/>
          <p:cNvSpPr/>
          <p:nvPr/>
        </p:nvSpPr>
        <p:spPr>
          <a:xfrm>
            <a:off x="2898648" y="5998464"/>
            <a:ext cx="17282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0" name="Text 26"/>
          <p:cNvSpPr/>
          <p:nvPr/>
        </p:nvSpPr>
        <p:spPr>
          <a:xfrm>
            <a:off x="6153912" y="59618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54%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6821424" y="4882896"/>
            <a:ext cx="4803343" cy="1325880"/>
          </a:xfrm>
          <a:prstGeom prst="roundRect">
            <a:avLst>
              <a:gd name="adj" fmla="val 6897"/>
            </a:avLst>
          </a:prstGeom>
          <a:solidFill>
            <a:srgbClr val="FFF7F3"/>
          </a:solidFill>
          <a:ln w="12700">
            <a:solidFill>
              <a:srgbClr val="FDE3D3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9168" y="5102352"/>
            <a:ext cx="329184" cy="329184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7498080" y="5084064"/>
            <a:ext cx="38889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</a:t>
            </a:r>
            <a:endParaRPr lang="en-US" sz="1250" dirty="0"/>
          </a:p>
        </p:txBody>
      </p:sp>
      <p:sp>
        <p:nvSpPr>
          <p:cNvPr id="34" name="Text 29"/>
          <p:cNvSpPr/>
          <p:nvPr/>
        </p:nvSpPr>
        <p:spPr>
          <a:xfrm>
            <a:off x="7095744" y="5431536"/>
            <a:ext cx="42912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LLMs are more vulnerable than the deterministic baseline by 20–40 percentage points.</a:t>
            </a:r>
            <a:endParaRPr lang="en-US" sz="1150" dirty="0"/>
          </a:p>
        </p:txBody>
      </p:sp>
      <p:sp>
        <p:nvSpPr>
          <p:cNvPr id="35" name="Text 30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IMPACT &amp; SIGNIFICANCE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beyond the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5587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5" name="Text 3"/>
          <p:cNvSpPr/>
          <p:nvPr/>
        </p:nvSpPr>
        <p:spPr>
          <a:xfrm>
            <a:off x="603504" y="1645920"/>
            <a:ext cx="248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2C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70% → 20%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21792" y="2157984"/>
            <a:ext cx="244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win rate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1792" y="2414016"/>
            <a:ext cx="244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Shield + Counter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99968" y="1517904"/>
            <a:ext cx="25587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9" name="Text 7"/>
          <p:cNvSpPr/>
          <p:nvPr/>
        </p:nvSpPr>
        <p:spPr>
          <a:xfrm>
            <a:off x="3436544" y="1645920"/>
            <a:ext cx="248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&gt;800%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3454832" y="2157984"/>
            <a:ext cx="244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54832" y="2414016"/>
            <a:ext cx="244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incident damage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33008" y="1517904"/>
            <a:ext cx="25587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13" name="Text 11"/>
          <p:cNvSpPr/>
          <p:nvPr/>
        </p:nvSpPr>
        <p:spPr>
          <a:xfrm>
            <a:off x="6269584" y="1645920"/>
            <a:ext cx="248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$10–20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287872" y="2157984"/>
            <a:ext cx="244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/ month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87872" y="2414016"/>
            <a:ext cx="244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66047" y="1517904"/>
            <a:ext cx="25587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17" name="Text 15"/>
          <p:cNvSpPr/>
          <p:nvPr/>
        </p:nvSpPr>
        <p:spPr>
          <a:xfrm>
            <a:off x="9102623" y="1645920"/>
            <a:ext cx="248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9120911" y="2157984"/>
            <a:ext cx="244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Battle sessions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20911" y="2414016"/>
            <a:ext cx="244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reproducible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2980944"/>
            <a:ext cx="3503066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218688"/>
            <a:ext cx="365760" cy="36576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316736" y="321868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41248" y="3730752"/>
            <a:ext cx="295442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922776"/>
            <a:ext cx="182880" cy="1828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133856" y="3858768"/>
            <a:ext cx="27166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red-teaming methodology for LLM-IoT systems</a:t>
            </a:r>
            <a:endParaRPr lang="en-US" sz="11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4489704"/>
            <a:ext cx="182880" cy="18288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133856" y="4425696"/>
            <a:ext cx="27166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Taxonomy of 25 attack techniques mapped to MITRE ATLAS</a:t>
            </a:r>
            <a:endParaRPr lang="en-US" sz="11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5056632"/>
            <a:ext cx="182880" cy="1828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133856" y="4992624"/>
            <a:ext cx="27166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Quantitative risk-scoring model for cyber-physical systems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4344314" y="2980944"/>
            <a:ext cx="3503066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8634" y="3218688"/>
            <a:ext cx="365760" cy="36576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094122" y="321868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618634" y="3730752"/>
            <a:ext cx="295442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6922" y="3922776"/>
            <a:ext cx="182880" cy="18288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4911242" y="3858768"/>
            <a:ext cx="27166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platform on ai.imperium.kz for researchers</a:t>
            </a:r>
            <a:endParaRPr lang="en-US" sz="110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6922" y="4489704"/>
            <a:ext cx="182880" cy="18288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4911242" y="4425696"/>
            <a:ext cx="27166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 experiments via public web interface</a:t>
            </a:r>
            <a:endParaRPr lang="en-US" sz="1100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6922" y="5056632"/>
            <a:ext cx="182880" cy="18288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4911242" y="4992624"/>
            <a:ext cx="27166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through Render Blueprint — one-click fork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8121701" y="2980944"/>
            <a:ext cx="3503066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6021" y="3218688"/>
            <a:ext cx="365760" cy="36576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8871509" y="3218688"/>
            <a:ext cx="25886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600" dirty="0"/>
          </a:p>
        </p:txBody>
      </p:sp>
      <p:sp>
        <p:nvSpPr>
          <p:cNvPr id="43" name="Shape 32"/>
          <p:cNvSpPr/>
          <p:nvPr/>
        </p:nvSpPr>
        <p:spPr>
          <a:xfrm>
            <a:off x="8396021" y="3730752"/>
            <a:ext cx="295442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4309" y="3922776"/>
            <a:ext cx="182880" cy="18288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8688629" y="3858768"/>
            <a:ext cx="27166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cloud deployment on real infrastructure</a:t>
            </a:r>
            <a:endParaRPr lang="en-US" sz="1100" dirty="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4309" y="4489704"/>
            <a:ext cx="182880" cy="182880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8688629" y="4425696"/>
            <a:ext cx="27166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 on GitHub (Omarigato/ImperiumAI)</a:t>
            </a:r>
            <a:endParaRPr lang="en-US" sz="1100" dirty="0"/>
          </a:p>
        </p:txBody>
      </p:sp>
      <p:pic>
        <p:nvPicPr>
          <p:cNvPr id="48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4309" y="5056632"/>
            <a:ext cx="182880" cy="182880"/>
          </a:xfrm>
          <a:prstGeom prst="rect">
            <a:avLst/>
          </a:prstGeom>
        </p:spPr>
      </p:pic>
      <p:sp>
        <p:nvSpPr>
          <p:cNvPr id="49" name="Text 35"/>
          <p:cNvSpPr/>
          <p:nvPr/>
        </p:nvSpPr>
        <p:spPr>
          <a:xfrm>
            <a:off x="8688629" y="4992624"/>
            <a:ext cx="271668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metric traceable via battle-history database</a:t>
            </a:r>
            <a:endParaRPr lang="en-US" sz="1100" dirty="0"/>
          </a:p>
        </p:txBody>
      </p:sp>
      <p:sp>
        <p:nvSpPr>
          <p:cNvPr id="50" name="Text 36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51" name="Text 37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52" name="Text 38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78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takeaways from the project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5" name="Shape 3"/>
          <p:cNvSpPr/>
          <p:nvPr/>
        </p:nvSpPr>
        <p:spPr>
          <a:xfrm>
            <a:off x="804672" y="1728216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6" name="Text 4"/>
          <p:cNvSpPr/>
          <p:nvPr/>
        </p:nvSpPr>
        <p:spPr>
          <a:xfrm>
            <a:off x="804672" y="17282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17904" y="168249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the gap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407408" y="1664208"/>
            <a:ext cx="69430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review of 45 sources showed existing LLM frameworks (Garak, PyRIT, PromptBench) ignore physical impact on IoT environments.</a:t>
            </a:r>
            <a:endParaRPr lang="en-US" sz="1180" dirty="0"/>
          </a:p>
        </p:txBody>
      </p:sp>
      <p:sp>
        <p:nvSpPr>
          <p:cNvPr id="9" name="Shape 7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10" name="Shape 8"/>
          <p:cNvSpPr/>
          <p:nvPr/>
        </p:nvSpPr>
        <p:spPr>
          <a:xfrm>
            <a:off x="804672" y="2679192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1" name="Text 9"/>
          <p:cNvSpPr/>
          <p:nvPr/>
        </p:nvSpPr>
        <p:spPr>
          <a:xfrm>
            <a:off x="804672" y="26791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17904" y="263347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the framework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07408" y="2615184"/>
            <a:ext cx="69430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multi-agent architecture with 5 agents and 25 attack techniques mapped to MITRE ATLAS — the first such system for LLM-IoT.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566928" y="3456432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15" name="Shape 13"/>
          <p:cNvSpPr/>
          <p:nvPr/>
        </p:nvSpPr>
        <p:spPr>
          <a:xfrm>
            <a:off x="804672" y="3630168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16" name="Text 14"/>
          <p:cNvSpPr/>
          <p:nvPr/>
        </p:nvSpPr>
        <p:spPr>
          <a:xfrm>
            <a:off x="804672" y="36301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17904" y="358444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end-to-end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07408" y="3566160"/>
            <a:ext cx="69430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backend (multi-LLM router, 26-pattern policy engine, 19-device IoT simulator) plus a Next.js + Three.js 3D interface.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566928" y="4407408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20" name="Shape 18"/>
          <p:cNvSpPr/>
          <p:nvPr/>
        </p:nvSpPr>
        <p:spPr>
          <a:xfrm>
            <a:off x="804672" y="4581144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1" name="Text 19"/>
          <p:cNvSpPr/>
          <p:nvPr/>
        </p:nvSpPr>
        <p:spPr>
          <a:xfrm>
            <a:off x="804672" y="45811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517904" y="453542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Quantified the risk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407408" y="4517136"/>
            <a:ext cx="69430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LLMs exceed the deterministic baseline by 20–40 pp; multi-agent Mix-LLM reaches a 70% win rate — protect the weakest link.</a:t>
            </a:r>
            <a:endParaRPr lang="en-US" sz="1180" dirty="0"/>
          </a:p>
        </p:txBody>
      </p:sp>
      <p:sp>
        <p:nvSpPr>
          <p:cNvPr id="24" name="Shape 22"/>
          <p:cNvSpPr/>
          <p:nvPr/>
        </p:nvSpPr>
        <p:spPr>
          <a:xfrm>
            <a:off x="566928" y="5358384"/>
            <a:ext cx="11057839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14300" dist="38100" dir="5400000" algn="bl" rotWithShape="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 lang="ru-KZ"/>
          </a:p>
        </p:txBody>
      </p:sp>
      <p:sp>
        <p:nvSpPr>
          <p:cNvPr id="25" name="Shape 23"/>
          <p:cNvSpPr/>
          <p:nvPr/>
        </p:nvSpPr>
        <p:spPr>
          <a:xfrm>
            <a:off x="804672" y="55321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26" name="Text 24"/>
          <p:cNvSpPr/>
          <p:nvPr/>
        </p:nvSpPr>
        <p:spPr>
          <a:xfrm>
            <a:off x="804672" y="55321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517904" y="548640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Showed defense works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07408" y="5468112"/>
            <a:ext cx="69430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18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Shield + CounterMeasures cut the win rate from 70% to 20% — a human in the loop is critical; semantic bypass remains open.</a:t>
            </a:r>
            <a:endParaRPr lang="en-US" sz="1180" dirty="0"/>
          </a:p>
        </p:txBody>
      </p:sp>
      <p:sp>
        <p:nvSpPr>
          <p:cNvPr id="29" name="Text 27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52648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695" y="-146304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2563EB">
              <a:alpha val="14000"/>
            </a:srgbClr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3" name="Shape 1"/>
          <p:cNvSpPr/>
          <p:nvPr/>
        </p:nvSpPr>
        <p:spPr>
          <a:xfrm>
            <a:off x="-1645920" y="41148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2563EB">
              <a:alpha val="10000"/>
            </a:srgbClr>
          </a:solidFill>
          <a:ln/>
        </p:spPr>
        <p:txBody>
          <a:bodyPr/>
          <a:lstStyle/>
          <a:p>
            <a:endParaRPr lang="ru-KZ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3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DIPLOMA PROJECT DEFENSE ·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your attention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66928" y="274320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D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answer the committee's questions.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3657600"/>
            <a:ext cx="4297680" cy="1005840"/>
          </a:xfrm>
          <a:prstGeom prst="roundRect">
            <a:avLst>
              <a:gd name="adj" fmla="val 909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9776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3840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353312" y="409651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ai.imperium.kz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175504" y="3657600"/>
            <a:ext cx="4297680" cy="1005840"/>
          </a:xfrm>
          <a:prstGeom prst="roundRect">
            <a:avLst>
              <a:gd name="adj" fmla="val 909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ru-KZ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9824" y="39776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961888" y="38404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961888" y="4096512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github.com/Omarigato/ImperiumAI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66928" y="512064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Akim Omar  ·  Kaisanov Zhantore  ·  Tazhibayev Arnur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Advisor: Togzhanova K.O.  ·  6B06302 — Hardware Security  ·  IITU · Almaty 2026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66928" y="6473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ImperiumAI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0527487" y="64739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13</a:t>
            </a:r>
            <a:endParaRPr lang="en-US" sz="900" dirty="0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A3011FF7-CC87-7BD0-3361-87962F51134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  <a14:imgEffect>
                      <a14:saturation sat="9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26777" y="3652520"/>
            <a:ext cx="1001904" cy="990990"/>
          </a:xfrm>
          <a:prstGeom prst="rect">
            <a:avLst/>
          </a:prstGeom>
          <a:noFill/>
          <a:effectLst>
            <a:softEdge rad="38100"/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</TotalTime>
  <Words>1502</Words>
  <Application>Microsoft Office PowerPoint</Application>
  <PresentationFormat>Широкоэкранный</PresentationFormat>
  <Paragraphs>306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ImperiumAI — AI-Based Red Teaming Framework</dc:title>
  <dc:subject>PptxGenJS Presentation</dc:subject>
  <dc:creator>ImperiumAI Team</dc:creator>
  <cp:lastModifiedBy>Omar Akim</cp:lastModifiedBy>
  <cp:revision>6</cp:revision>
  <dcterms:created xsi:type="dcterms:W3CDTF">2026-06-10T13:31:38Z</dcterms:created>
  <dcterms:modified xsi:type="dcterms:W3CDTF">2026-06-11T20:11:03Z</dcterms:modified>
</cp:coreProperties>
</file>